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6D9FF"/>
          </a:solidFill>
          <a:ln w="12700">
            <a:solidFill>
              <a:srgbClr val="16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D9FF"/>
                </a:solidFill>
              </a:rPr>
              <a:t>INVESTOR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469880" y="384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BA7B4"/>
                </a:solidFill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0789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Ghola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713232" y="1965960"/>
            <a:ext cx="7589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Private execution layer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user-owned agents.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BA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intelligence  ·  encrypted memory  ·  delegated authority  ·  stablecoin settlement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0" y="1965960"/>
            <a:ext cx="1783080" cy="1783080"/>
          </a:xfrm>
          <a:prstGeom prst="ellipse">
            <a:avLst/>
          </a:prstGeom>
          <a:solidFill>
            <a:srgbClr val="070A0F"/>
          </a:solidFill>
          <a:ln w="19050">
            <a:solidFill>
              <a:srgbClr val="16D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08976" y="26609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D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41080" y="2441448"/>
            <a:ext cx="1783080" cy="1783080"/>
          </a:xfrm>
          <a:prstGeom prst="ellipse">
            <a:avLst/>
          </a:prstGeom>
          <a:solidFill>
            <a:srgbClr val="070A0F"/>
          </a:solidFill>
          <a:ln w="19050">
            <a:solidFill>
              <a:srgbClr val="8EFF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51976" y="31363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EFFB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784080" y="2916936"/>
            <a:ext cx="1783080" cy="1783080"/>
          </a:xfrm>
          <a:prstGeom prst="ellipse">
            <a:avLst/>
          </a:prstGeom>
          <a:solidFill>
            <a:srgbClr val="070A0F"/>
          </a:solidFill>
          <a:ln w="19050">
            <a:solidFill>
              <a:srgbClr val="A98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94976" y="36118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8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spend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6D9FF"/>
          </a:solidFill>
          <a:ln w="12700">
            <a:solidFill>
              <a:srgbClr val="16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D9FF"/>
                </a:solidFill>
              </a:rPr>
              <a:t>THE SHIFT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469880" y="384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BA7B4"/>
                </a:solidFill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 are leaving chat.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13232" y="178308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BA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question is not what they can say. It is what they can safely do.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111923"/>
          </a:solidFill>
          <a:ln w="13970">
            <a:solidFill>
              <a:srgbClr val="16D9FF">
                <a:alpha val="9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4728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3547872"/>
            <a:ext cx="1143000" cy="0"/>
          </a:xfrm>
          <a:prstGeom prst="line">
            <a:avLst/>
          </a:prstGeom>
          <a:noFill/>
          <a:ln w="25400">
            <a:solidFill>
              <a:srgbClr val="2A384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46320" y="2971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111923"/>
          </a:solidFill>
          <a:ln w="13970">
            <a:solidFill>
              <a:srgbClr val="8EFFB1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44728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EFF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06640" y="3547872"/>
            <a:ext cx="1143000" cy="0"/>
          </a:xfrm>
          <a:prstGeom prst="line">
            <a:avLst/>
          </a:prstGeom>
          <a:noFill/>
          <a:ln w="25400">
            <a:solidFill>
              <a:srgbClr val="2A38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78240" y="2971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111923"/>
          </a:solidFill>
          <a:ln w="13970">
            <a:solidFill>
              <a:srgbClr val="A986FF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344728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6D9FF"/>
          </a:solidFill>
          <a:ln w="12700">
            <a:solidFill>
              <a:srgbClr val="16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D9FF"/>
                </a:solidFill>
              </a:rPr>
              <a:t>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469880" y="384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BA7B4"/>
                </a:solidFill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internet assumes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human is clicking.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BA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need identity, authority, money, and proof.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06640" y="114300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111923"/>
          </a:solidFill>
          <a:ln w="13970">
            <a:solidFill>
              <a:srgbClr val="2A3848">
                <a:alpha val="9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153619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A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account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06640" y="2487168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111923"/>
          </a:solidFill>
          <a:ln w="13970">
            <a:solidFill>
              <a:srgbClr val="2A3848">
                <a:alpha val="9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288036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A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memory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06640" y="3831336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111923"/>
          </a:solidFill>
          <a:ln w="13970">
            <a:solidFill>
              <a:srgbClr val="2A3848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422452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A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 payment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652760" y="154533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6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52760" y="288950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6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52760" y="42336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6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6D9FF"/>
          </a:solidFill>
          <a:ln w="12700">
            <a:solidFill>
              <a:srgbClr val="16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D9FF"/>
                </a:solidFill>
              </a:rPr>
              <a:t>INSIGHT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469880" y="384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BA7B4"/>
                </a:solidFill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are abundant.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6D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Authority is scarce.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BA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valuable graph is around the model, not inside a single model vendor.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47104" y="4160520"/>
            <a:ext cx="1115568" cy="1115568"/>
          </a:xfrm>
          <a:prstGeom prst="ellipse">
            <a:avLst/>
          </a:prstGeom>
          <a:solidFill>
            <a:srgbClr val="111923"/>
          </a:solidFill>
          <a:ln w="19050">
            <a:solidFill>
              <a:srgbClr val="16D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47104" y="461772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37760" y="4160520"/>
            <a:ext cx="914400" cy="914400"/>
          </a:xfrm>
          <a:prstGeom prst="ellipse">
            <a:avLst/>
          </a:prstGeom>
          <a:solidFill>
            <a:srgbClr val="111923"/>
          </a:solidFill>
          <a:ln w="19050">
            <a:solidFill>
              <a:srgbClr val="8EFF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45445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EFF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04888" y="4718304"/>
            <a:ext cx="-1709928" cy="-100584"/>
          </a:xfrm>
          <a:prstGeom prst="line">
            <a:avLst/>
          </a:prstGeom>
          <a:noFill/>
          <a:ln w="12700">
            <a:solidFill>
              <a:srgbClr val="2A38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92240" y="3246120"/>
            <a:ext cx="914400" cy="914400"/>
          </a:xfrm>
          <a:prstGeom prst="ellipse">
            <a:avLst/>
          </a:prstGeom>
          <a:solidFill>
            <a:srgbClr val="111923"/>
          </a:solidFill>
          <a:ln w="19050">
            <a:solidFill>
              <a:srgbClr val="A98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630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04888" y="4718304"/>
            <a:ext cx="-155448" cy="-1014984"/>
          </a:xfrm>
          <a:prstGeom prst="line">
            <a:avLst/>
          </a:prstGeom>
          <a:noFill/>
          <a:ln w="12700">
            <a:solidFill>
              <a:srgbClr val="2A38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83880" y="4160520"/>
            <a:ext cx="914400" cy="914400"/>
          </a:xfrm>
          <a:prstGeom prst="ellipse">
            <a:avLst/>
          </a:prstGeom>
          <a:solidFill>
            <a:srgbClr val="111923"/>
          </a:solidFill>
          <a:ln w="19050">
            <a:solidFill>
              <a:srgbClr val="FFB3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45445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3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04888" y="4718304"/>
            <a:ext cx="1536192" cy="-100584"/>
          </a:xfrm>
          <a:prstGeom prst="line">
            <a:avLst/>
          </a:prstGeom>
          <a:noFill/>
          <a:ln w="12700">
            <a:solidFill>
              <a:srgbClr val="2A384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92240" y="5074920"/>
            <a:ext cx="914400" cy="914400"/>
          </a:xfrm>
          <a:prstGeom prst="ellipse">
            <a:avLst/>
          </a:prstGeom>
          <a:solidFill>
            <a:srgbClr val="111923"/>
          </a:solidFill>
          <a:ln w="19050">
            <a:solidFill>
              <a:srgbClr val="16D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5458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04888" y="4718304"/>
            <a:ext cx="-155448" cy="813816"/>
          </a:xfrm>
          <a:prstGeom prst="line">
            <a:avLst/>
          </a:prstGeom>
          <a:noFill/>
          <a:ln w="12700">
            <a:solidFill>
              <a:srgbClr val="2A3848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6D9FF"/>
          </a:solidFill>
          <a:ln w="12700">
            <a:solidFill>
              <a:srgbClr val="16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D9FF"/>
                </a:solidFill>
              </a:rPr>
              <a:t>PRODUCT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469880" y="384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BA7B4"/>
                </a:solidFill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Ghola is the layer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that governs agents.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BA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connects local intelligence to user-owned state, permissions, and settlement.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172230"/>
          </a:solidFill>
          <a:ln w="13970">
            <a:solidFill>
              <a:srgbClr val="16D9FF">
                <a:alpha val="9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096512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3977640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172230"/>
          </a:solidFill>
          <a:ln w="13970">
            <a:solidFill>
              <a:srgbClr val="8EFFB1">
                <a:alpha val="9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4096512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3977640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172230"/>
          </a:solidFill>
          <a:ln w="13970">
            <a:solidFill>
              <a:srgbClr val="A986FF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4096512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58200" y="3977640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172230"/>
          </a:solidFill>
          <a:ln w="13970">
            <a:solidFill>
              <a:srgbClr val="FFB35C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4096512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6D9FF"/>
          </a:solidFill>
          <a:ln w="12700">
            <a:solidFill>
              <a:srgbClr val="16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D9FF"/>
                </a:solidFill>
              </a:rPr>
              <a:t>WHY CRYPTO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469880" y="384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BA7B4"/>
                </a:solidFill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Cards authenticate humans.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6D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Wallets can authorize agents.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1005840" y="37033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111923"/>
          </a:solidFill>
          <a:ln w="13970">
            <a:solidFill>
              <a:srgbClr val="16D9FF">
                <a:alpha val="9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0142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4087368"/>
            <a:ext cx="1371600" cy="0"/>
          </a:xfrm>
          <a:prstGeom prst="line">
            <a:avLst/>
          </a:prstGeom>
          <a:noFill/>
          <a:ln w="25400">
            <a:solidFill>
              <a:srgbClr val="2A384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46320" y="37033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111923"/>
          </a:solidFill>
          <a:ln w="13970">
            <a:solidFill>
              <a:srgbClr val="8EFFB1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40142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EFF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86600" y="4087368"/>
            <a:ext cx="1371600" cy="0"/>
          </a:xfrm>
          <a:prstGeom prst="line">
            <a:avLst/>
          </a:prstGeom>
          <a:noFill/>
          <a:ln w="25400">
            <a:solidFill>
              <a:srgbClr val="2A38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86800" y="37033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111923"/>
          </a:solidFill>
          <a:ln w="13970">
            <a:solidFill>
              <a:srgbClr val="A986FF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40142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48920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B3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stablecoin receipt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6D9FF"/>
          </a:solidFill>
          <a:ln w="12700">
            <a:solidFill>
              <a:srgbClr val="16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D9FF"/>
                </a:solidFill>
              </a:rPr>
              <a:t>WEDGE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469880" y="384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BA7B4"/>
                </a:solidFill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where trust matters.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BA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Calls. Email. Calendar. Tasks. Purchases that require explicit approval.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3657600"/>
            <a:ext cx="1078992" cy="1078992"/>
          </a:xfrm>
          <a:prstGeom prst="ellipse">
            <a:avLst/>
          </a:prstGeom>
          <a:solidFill>
            <a:srgbClr val="111923"/>
          </a:solidFill>
          <a:ln w="19050">
            <a:solidFill>
              <a:srgbClr val="16D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105656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3657600"/>
            <a:ext cx="1078992" cy="1078992"/>
          </a:xfrm>
          <a:prstGeom prst="ellipse">
            <a:avLst/>
          </a:prstGeom>
          <a:solidFill>
            <a:srgbClr val="111923"/>
          </a:solidFill>
          <a:ln w="19050">
            <a:solidFill>
              <a:srgbClr val="8EFF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4105656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EFF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66360" y="3657600"/>
            <a:ext cx="1078992" cy="1078992"/>
          </a:xfrm>
          <a:prstGeom prst="ellipse">
            <a:avLst/>
          </a:prstGeom>
          <a:solidFill>
            <a:srgbClr val="111923"/>
          </a:solidFill>
          <a:ln w="19050">
            <a:solidFill>
              <a:srgbClr val="A98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4105656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78040" y="3657600"/>
            <a:ext cx="1078992" cy="1078992"/>
          </a:xfrm>
          <a:prstGeom prst="ellipse">
            <a:avLst/>
          </a:prstGeom>
          <a:solidFill>
            <a:srgbClr val="111923"/>
          </a:solidFill>
          <a:ln w="19050">
            <a:solidFill>
              <a:srgbClr val="FFB3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4105656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3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89720" y="3657600"/>
            <a:ext cx="1078992" cy="1078992"/>
          </a:xfrm>
          <a:prstGeom prst="ellipse">
            <a:avLst/>
          </a:prstGeom>
          <a:solidFill>
            <a:srgbClr val="111923"/>
          </a:solidFill>
          <a:ln w="19050">
            <a:solidFill>
              <a:srgbClr val="FF66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4105656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6D9FF"/>
          </a:solidFill>
          <a:ln w="12700">
            <a:solidFill>
              <a:srgbClr val="16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D9FF"/>
                </a:solidFill>
              </a:rPr>
              <a:t>EXPANSION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469880" y="384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BA7B4"/>
                </a:solidFill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0789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app is the wedge.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17556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6D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authority graph is the platform.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005840" y="3794760"/>
            <a:ext cx="713232" cy="713232"/>
          </a:xfrm>
          <a:prstGeom prst="ellipse">
            <a:avLst/>
          </a:prstGeom>
          <a:solidFill>
            <a:srgbClr val="16D9FF"/>
          </a:solidFill>
          <a:ln w="19050">
            <a:solidFill>
              <a:srgbClr val="16D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6177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755648" y="4151376"/>
            <a:ext cx="1536192" cy="0"/>
          </a:xfrm>
          <a:prstGeom prst="line">
            <a:avLst/>
          </a:prstGeom>
          <a:noFill/>
          <a:ln w="21590">
            <a:solidFill>
              <a:srgbClr val="2A384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37560" y="3794760"/>
            <a:ext cx="713232" cy="713232"/>
          </a:xfrm>
          <a:prstGeom prst="ellipse">
            <a:avLst/>
          </a:prstGeom>
          <a:solidFill>
            <a:srgbClr val="111923"/>
          </a:solidFill>
          <a:ln w="19050">
            <a:solidFill>
              <a:srgbClr val="8EFF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0088" y="46177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EFF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87368" y="4151376"/>
            <a:ext cx="1536192" cy="0"/>
          </a:xfrm>
          <a:prstGeom prst="line">
            <a:avLst/>
          </a:prstGeom>
          <a:noFill/>
          <a:ln w="21590">
            <a:solidFill>
              <a:srgbClr val="2A38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9280" y="3794760"/>
            <a:ext cx="713232" cy="713232"/>
          </a:xfrm>
          <a:prstGeom prst="ellipse">
            <a:avLst/>
          </a:prstGeom>
          <a:solidFill>
            <a:srgbClr val="111923"/>
          </a:solidFill>
          <a:ln w="19050">
            <a:solidFill>
              <a:srgbClr val="A98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1808" y="46177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19088" y="4151376"/>
            <a:ext cx="1536192" cy="0"/>
          </a:xfrm>
          <a:prstGeom prst="line">
            <a:avLst/>
          </a:prstGeom>
          <a:noFill/>
          <a:ln w="21590">
            <a:solidFill>
              <a:srgbClr val="2A38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01000" y="3794760"/>
            <a:ext cx="713232" cy="713232"/>
          </a:xfrm>
          <a:prstGeom prst="ellipse">
            <a:avLst/>
          </a:prstGeom>
          <a:solidFill>
            <a:srgbClr val="111923"/>
          </a:solidFill>
          <a:ln w="19050">
            <a:solidFill>
              <a:srgbClr val="FFB3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53528" y="46177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3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50808" y="4151376"/>
            <a:ext cx="1307592" cy="0"/>
          </a:xfrm>
          <a:prstGeom prst="line">
            <a:avLst/>
          </a:prstGeom>
          <a:noFill/>
          <a:ln w="21590">
            <a:solidFill>
              <a:srgbClr val="2A384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104120" y="3794760"/>
            <a:ext cx="713232" cy="713232"/>
          </a:xfrm>
          <a:prstGeom prst="ellipse">
            <a:avLst/>
          </a:prstGeom>
          <a:solidFill>
            <a:srgbClr val="111923"/>
          </a:solidFill>
          <a:ln w="19050">
            <a:solidFill>
              <a:srgbClr val="FF66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56648" y="46177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6D9FF"/>
          </a:solidFill>
          <a:ln w="12700">
            <a:solidFill>
              <a:srgbClr val="16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D9FF"/>
                </a:solidFill>
              </a:rPr>
              <a:t>PROOF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469880" y="384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BA7B4"/>
                </a:solidFill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Already more than an app.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BA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clients, identity, execution, payments, and marketplace surfaces exist in the stack.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111923"/>
          </a:solidFill>
          <a:ln w="13970">
            <a:solidFill>
              <a:srgbClr val="16D9FF">
                <a:alpha val="9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18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iOS/macOS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0440" y="2971800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111923"/>
          </a:solidFill>
          <a:ln w="13970">
            <a:solidFill>
              <a:srgbClr val="8EFFB1">
                <a:alpha val="9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3218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EFF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2971800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111923"/>
          </a:solidFill>
          <a:ln w="13970">
            <a:solidFill>
              <a:srgbClr val="A986FF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218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32520" y="2971800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111923"/>
          </a:solidFill>
          <a:ln w="13970">
            <a:solidFill>
              <a:srgbClr val="FFB35C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3218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3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4023360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111923"/>
          </a:solidFill>
          <a:ln w="13970">
            <a:solidFill>
              <a:srgbClr val="FF6685">
                <a:alpha val="9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7024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Thumper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4023360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111923"/>
          </a:solidFill>
          <a:ln w="13970">
            <a:solidFill>
              <a:srgbClr val="16D9FF">
                <a:alpha val="9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427024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4023360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111923"/>
          </a:solidFill>
          <a:ln w="13970">
            <a:solidFill>
              <a:srgbClr val="8EFFB1">
                <a:alpha val="9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427024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EFF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Orni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32520" y="4023360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111923"/>
          </a:solidFill>
          <a:ln w="13970">
            <a:solidFill>
              <a:srgbClr val="A986FF">
                <a:alpha val="9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427024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MCP/SDK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6D9FF"/>
          </a:solidFill>
          <a:ln w="12700">
            <a:solidFill>
              <a:srgbClr val="16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D9FF"/>
                </a:solidFill>
              </a:rPr>
              <a:t>MOAT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469880" y="384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BA7B4"/>
                </a:solidFill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moat is the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authority graph.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BA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approved action strengthens user-owned context, trust, and settlement history.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26680" y="3246120"/>
            <a:ext cx="1325880" cy="1325880"/>
          </a:xfrm>
          <a:prstGeom prst="ellipse">
            <a:avLst/>
          </a:prstGeom>
          <a:solidFill>
            <a:srgbClr val="111923"/>
          </a:solidFill>
          <a:ln w="19050">
            <a:solidFill>
              <a:srgbClr val="16D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368503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92240" y="1508760"/>
            <a:ext cx="822960" cy="822960"/>
          </a:xfrm>
          <a:prstGeom prst="ellipse">
            <a:avLst/>
          </a:prstGeom>
          <a:solidFill>
            <a:srgbClr val="111923"/>
          </a:solidFill>
          <a:ln w="19050">
            <a:solidFill>
              <a:srgbClr val="8EFF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379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EFF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03720" y="1920240"/>
            <a:ext cx="1481328" cy="1984248"/>
          </a:xfrm>
          <a:prstGeom prst="line">
            <a:avLst/>
          </a:prstGeom>
          <a:noFill/>
          <a:ln w="12700">
            <a:solidFill>
              <a:srgbClr val="2A384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281160" y="1783080"/>
            <a:ext cx="822960" cy="822960"/>
          </a:xfrm>
          <a:prstGeom prst="ellipse">
            <a:avLst/>
          </a:prstGeom>
          <a:solidFill>
            <a:srgbClr val="111923"/>
          </a:solidFill>
          <a:ln w="19050">
            <a:solidFill>
              <a:srgbClr val="FFB3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21122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3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92640" y="2194560"/>
            <a:ext cx="-1307592" cy="1709928"/>
          </a:xfrm>
          <a:prstGeom prst="line">
            <a:avLst/>
          </a:prstGeom>
          <a:noFill/>
          <a:ln w="12700">
            <a:solidFill>
              <a:srgbClr val="2A384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26480" y="4983480"/>
            <a:ext cx="822960" cy="822960"/>
          </a:xfrm>
          <a:prstGeom prst="ellipse">
            <a:avLst/>
          </a:prstGeom>
          <a:solidFill>
            <a:srgbClr val="111923"/>
          </a:solidFill>
          <a:ln w="19050">
            <a:solidFill>
              <a:srgbClr val="A98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53126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37960" y="5394960"/>
            <a:ext cx="1847088" cy="-1490472"/>
          </a:xfrm>
          <a:prstGeom prst="line">
            <a:avLst/>
          </a:prstGeom>
          <a:noFill/>
          <a:ln w="12700">
            <a:solidFill>
              <a:srgbClr val="2A384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26880" y="4709160"/>
            <a:ext cx="822960" cy="822960"/>
          </a:xfrm>
          <a:prstGeom prst="ellipse">
            <a:avLst/>
          </a:prstGeom>
          <a:solidFill>
            <a:srgbClr val="111923"/>
          </a:solidFill>
          <a:ln w="19050">
            <a:solidFill>
              <a:srgbClr val="FF66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50383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738360" y="5120640"/>
            <a:ext cx="-1353312" cy="-1216152"/>
          </a:xfrm>
          <a:prstGeom prst="line">
            <a:avLst/>
          </a:prstGeom>
          <a:noFill/>
          <a:ln w="12700">
            <a:solidFill>
              <a:srgbClr val="2A3848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6D9FF"/>
          </a:solidFill>
          <a:ln w="12700">
            <a:solidFill>
              <a:srgbClr val="16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D9FF"/>
                </a:solidFill>
              </a:rPr>
              <a:t>WHY NOW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469880" y="384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BA7B4"/>
                </a:solidFill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D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AI works.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8EFFB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Stablecoins are live.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A98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 need trust.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BA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timing is the convergence, not any single technology.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6D9FF"/>
          </a:solidFill>
          <a:ln w="12700">
            <a:solidFill>
              <a:srgbClr val="16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D9FF"/>
                </a:solidFill>
              </a:rPr>
              <a:t>A16Z CRYPTO FIT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469880" y="384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BA7B4"/>
                </a:solidFill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is agent infrastructure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an application wedge.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BA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Identity, payments, privacy, Solana distribution, and systems that can become protocols.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069080"/>
            <a:ext cx="4206240" cy="420624"/>
          </a:xfrm>
          <a:prstGeom prst="roundRect">
            <a:avLst>
              <a:gd name="adj" fmla="val 17391"/>
            </a:avLst>
          </a:prstGeom>
          <a:solidFill>
            <a:srgbClr val="172230"/>
          </a:solidFill>
          <a:ln w="13970">
            <a:solidFill>
              <a:srgbClr val="16D9FF">
                <a:alpha val="9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187952"/>
            <a:ext cx="4023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Ali: decentralized AI + Solana markets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4069080"/>
            <a:ext cx="4754880" cy="420624"/>
          </a:xfrm>
          <a:prstGeom prst="roundRect">
            <a:avLst>
              <a:gd name="adj" fmla="val 17391"/>
            </a:avLst>
          </a:prstGeom>
          <a:solidFill>
            <a:srgbClr val="172230"/>
          </a:solidFill>
          <a:ln w="13970">
            <a:solidFill>
              <a:srgbClr val="A986FF">
                <a:alpha val="9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4187952"/>
            <a:ext cx="4572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Eddy: infrastructure + security + token design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6D9FF"/>
          </a:solidFill>
          <a:ln w="12700">
            <a:solidFill>
              <a:srgbClr val="16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D9FF"/>
                </a:solidFill>
              </a:rPr>
              <a:t>DEMO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469880" y="384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BA7B4"/>
                </a:solidFill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private agent books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pays for a service.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BA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approves. Ghola settles. The receipt persists.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3931920"/>
            <a:ext cx="1645920" cy="713232"/>
          </a:xfrm>
          <a:prstGeom prst="roundRect">
            <a:avLst>
              <a:gd name="adj" fmla="val 10256"/>
            </a:avLst>
          </a:prstGeom>
          <a:solidFill>
            <a:srgbClr val="111923"/>
          </a:solidFill>
          <a:ln w="13970">
            <a:solidFill>
              <a:srgbClr val="16D9FF">
                <a:alpha val="9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206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16352" y="4288536"/>
            <a:ext cx="704088" cy="0"/>
          </a:xfrm>
          <a:prstGeom prst="line">
            <a:avLst/>
          </a:prstGeom>
          <a:noFill/>
          <a:ln w="20320">
            <a:solidFill>
              <a:srgbClr val="2A384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57600" y="3931920"/>
            <a:ext cx="1645920" cy="713232"/>
          </a:xfrm>
          <a:prstGeom prst="roundRect">
            <a:avLst>
              <a:gd name="adj" fmla="val 10256"/>
            </a:avLst>
          </a:prstGeom>
          <a:solidFill>
            <a:srgbClr val="111923"/>
          </a:solidFill>
          <a:ln w="13970">
            <a:solidFill>
              <a:srgbClr val="8EFFB1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4206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EFF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76672" y="4288536"/>
            <a:ext cx="704088" cy="0"/>
          </a:xfrm>
          <a:prstGeom prst="line">
            <a:avLst/>
          </a:prstGeom>
          <a:noFill/>
          <a:ln w="20320">
            <a:solidFill>
              <a:srgbClr val="2A38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3931920"/>
            <a:ext cx="1645920" cy="713232"/>
          </a:xfrm>
          <a:prstGeom prst="roundRect">
            <a:avLst>
              <a:gd name="adj" fmla="val 10256"/>
            </a:avLst>
          </a:prstGeom>
          <a:solidFill>
            <a:srgbClr val="111923"/>
          </a:solidFill>
          <a:ln w="13970">
            <a:solidFill>
              <a:srgbClr val="FFB35C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4206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3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36992" y="4288536"/>
            <a:ext cx="704088" cy="0"/>
          </a:xfrm>
          <a:prstGeom prst="line">
            <a:avLst/>
          </a:prstGeom>
          <a:noFill/>
          <a:ln w="20320">
            <a:solidFill>
              <a:srgbClr val="2A38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78240" y="3931920"/>
            <a:ext cx="1645920" cy="713232"/>
          </a:xfrm>
          <a:prstGeom prst="roundRect">
            <a:avLst>
              <a:gd name="adj" fmla="val 10256"/>
            </a:avLst>
          </a:prstGeom>
          <a:solidFill>
            <a:srgbClr val="111923"/>
          </a:solidFill>
          <a:ln w="13970">
            <a:solidFill>
              <a:srgbClr val="A986FF">
                <a:alpha val="9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4206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6D9FF"/>
          </a:solidFill>
          <a:ln w="12700">
            <a:solidFill>
              <a:srgbClr val="16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D9FF"/>
                </a:solidFill>
              </a:rPr>
              <a:t>CLOSE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469880" y="384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BA7B4"/>
                </a:solidFill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agents can know,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6F1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do, and spend...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D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users need to own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16D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layer that governs them.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BA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 is that private execution layer.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Ghola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Ghola visual investor deck</dc:title>
  <dc:subject>Investor pitch deck</dc:subject>
  <dc:creator>Ghola</dc:creator>
  <cp:lastModifiedBy>Ghola</cp:lastModifiedBy>
  <cp:revision>1</cp:revision>
  <dcterms:created xsi:type="dcterms:W3CDTF">2026-05-17T14:37:47Z</dcterms:created>
  <dcterms:modified xsi:type="dcterms:W3CDTF">2026-05-17T14:37:47Z</dcterms:modified>
</cp:coreProperties>
</file>