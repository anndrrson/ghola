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3504" y="713232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3504" y="6355080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03504" y="475488"/>
            <a:ext cx="128016" cy="128016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400">
                <a:solidFill>
                  <a:srgbClr val="F0EAD8"/>
                </a:solidFill>
                <a:latin typeface="Aptos Display"/>
              </a:rPr>
              <a:t>GHOLA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0864" y="384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400">
                <a:solidFill>
                  <a:srgbClr val="6F7B89"/>
                </a:solidFill>
                <a:latin typeface="Aptos"/>
              </a:rPr>
              <a:t>INVESTOR DECK · SEED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16591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F7B89"/>
                </a:solidFill>
                <a:latin typeface="Menlo"/>
              </a:rPr>
              <a:t>01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F7B89"/>
                </a:solidFill>
                <a:latin typeface="Aptos"/>
              </a:rPr>
              <a:t>Private execution layer for user-owned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0591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F7B89"/>
                </a:solidFill>
                <a:latin typeface="Menlo"/>
              </a:rPr>
              <a:t>ghola.app  ·  seed pitch  · 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76511" y="1280160"/>
            <a:ext cx="2103120" cy="4572000"/>
          </a:xfrm>
          <a:prstGeom prst="roundRect">
            <a:avLst>
              <a:gd name="adj" fmla="val 10000"/>
            </a:avLst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lide1_im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951" y="1371600"/>
            <a:ext cx="1920240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67951" y="592531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18D7FF"/>
                </a:solidFill>
                <a:latin typeface="Aptos"/>
              </a:rPr>
              <a:t>shipping product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" y="1389888"/>
            <a:ext cx="32004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14984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PRIVATE EXECUTION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1783080"/>
            <a:ext cx="8790127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>
                <a:solidFill>
                  <a:srgbClr val="F0EAD8"/>
                </a:solidFill>
                <a:latin typeface="Aptos Display"/>
              </a:rPr>
              <a:t>Agents that act</a:t>
            </a:r>
          </a:p>
          <a:p>
            <a:pPr algn="l">
              <a:lnSpc>
                <a:spcPct val="105000"/>
              </a:lnSpc>
            </a:pPr>
            <a:r>
              <a:rPr sz="6400" b="1">
                <a:solidFill>
                  <a:srgbClr val="F0EAD8"/>
                </a:solidFill>
                <a:latin typeface="Aptos Display"/>
              </a:rPr>
              <a:t>Owned by you</a:t>
            </a:r>
            <a:r>
              <a:rPr sz="64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4572000"/>
            <a:ext cx="87901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C7CDD6"/>
                </a:solidFill>
                <a:latin typeface="Aptos"/>
              </a:rPr>
              <a:t>Ghola is the user-owned control plane for AI agents — local intelligence, encrypted memory, delegated authority, and stablecoin settlement, in one private execution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5806440"/>
            <a:ext cx="21975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300">
                <a:solidFill>
                  <a:srgbClr val="18D7FF"/>
                </a:solidFill>
                <a:latin typeface="Menlo"/>
              </a:rPr>
              <a:t>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6062472"/>
            <a:ext cx="21975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EAD8"/>
                </a:solidFill>
                <a:latin typeface="Aptos"/>
              </a:rPr>
              <a:t>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1035" y="5806440"/>
            <a:ext cx="21975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300">
                <a:solidFill>
                  <a:srgbClr val="18D7FF"/>
                </a:solidFill>
                <a:latin typeface="Menlo"/>
              </a:rPr>
              <a:t>ENCRYPTED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1035" y="6062472"/>
            <a:ext cx="21975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EAD8"/>
                </a:solidFill>
                <a:latin typeface="Aptos"/>
              </a:rP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8567" y="5806440"/>
            <a:ext cx="21975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300">
                <a:solidFill>
                  <a:srgbClr val="18D7FF"/>
                </a:solidFill>
                <a:latin typeface="Menlo"/>
              </a:rPr>
              <a:t>DELEGATED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98567" y="6062472"/>
            <a:ext cx="21975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EAD8"/>
                </a:solidFill>
                <a:latin typeface="Aptos"/>
              </a:rPr>
              <a:t>authority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099" y="5806440"/>
            <a:ext cx="21975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300">
                <a:solidFill>
                  <a:srgbClr val="18D7FF"/>
                </a:solidFill>
                <a:latin typeface="Menlo"/>
              </a:rPr>
              <a:t>STABLECOIN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099" y="6062472"/>
            <a:ext cx="21975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EAD8"/>
                </a:solidFill>
                <a:latin typeface="Aptos"/>
              </a:rPr>
              <a:t>settlement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03504" y="713232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3504" y="6355080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03504" y="475488"/>
            <a:ext cx="128016" cy="128016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400">
                <a:solidFill>
                  <a:srgbClr val="F0EAD8"/>
                </a:solidFill>
                <a:latin typeface="Aptos Display"/>
              </a:rPr>
              <a:t>GHOLA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864" y="384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400">
                <a:solidFill>
                  <a:srgbClr val="6F7B89"/>
                </a:solidFill>
                <a:latin typeface="Aptos"/>
              </a:rPr>
              <a:t>01 · THE MOMENT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16591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F7B89"/>
                </a:solidFill>
                <a:latin typeface="Menlo"/>
              </a:rPr>
              <a:t>02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F7B89"/>
                </a:solidFill>
                <a:latin typeface="Aptos"/>
              </a:rPr>
              <a:t>Private execution layer for user-owned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0591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F7B89"/>
                </a:solidFill>
                <a:latin typeface="Menlo"/>
              </a:rPr>
              <a:t>ghola.app  ·  seed pitch  ·  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" y="1207007"/>
            <a:ext cx="32004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1498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THE MOMENT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508760"/>
            <a:ext cx="7772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Agents are becoming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economic actors</a:t>
            </a:r>
            <a:r>
              <a:rPr sz="44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84048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C7CDD6"/>
                </a:solidFill>
                <a:latin typeface="Aptos"/>
              </a:rPr>
              <a:t>The question moves from “what can they say?” to “what can they safely do?” — and the answer requires a layer that does not yet exist.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325880"/>
            <a:ext cx="3108960" cy="128016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0" y="1325880"/>
            <a:ext cx="64008" cy="1280160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52704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 spc="200">
                <a:solidFill>
                  <a:srgbClr val="F0EAD8"/>
                </a:solidFill>
                <a:latin typeface="Aptos Display"/>
              </a:rPr>
              <a:t>KNOW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0756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F7B89"/>
                </a:solidFill>
                <a:latin typeface="Aptos"/>
              </a:rPr>
              <a:t>perceive context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2770632"/>
            <a:ext cx="3108960" cy="128016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03920" y="2770632"/>
            <a:ext cx="64008" cy="1280160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297180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 spc="200">
                <a:solidFill>
                  <a:srgbClr val="F0EAD8"/>
                </a:solidFill>
                <a:latin typeface="Aptos Display"/>
              </a:rPr>
              <a:t>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52043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F7B89"/>
                </a:solidFill>
                <a:latin typeface="Aptos"/>
              </a:rPr>
              <a:t>take actions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4215383"/>
            <a:ext cx="3108960" cy="128016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03920" y="4215383"/>
            <a:ext cx="64008" cy="1280160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4416551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 spc="200">
                <a:solidFill>
                  <a:srgbClr val="F0EAD8"/>
                </a:solidFill>
                <a:latin typeface="Aptos Display"/>
              </a:rPr>
              <a:t>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49651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F7B89"/>
                </a:solidFill>
                <a:latin typeface="Aptos"/>
              </a:rPr>
              <a:t>move 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03504" y="713232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3504" y="6355080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03504" y="475488"/>
            <a:ext cx="128016" cy="128016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400">
                <a:solidFill>
                  <a:srgbClr val="F0EAD8"/>
                </a:solidFill>
                <a:latin typeface="Aptos Display"/>
              </a:rPr>
              <a:t>GHOLA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864" y="384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400">
                <a:solidFill>
                  <a:srgbClr val="6F7B89"/>
                </a:solidFill>
                <a:latin typeface="Aptos"/>
              </a:rPr>
              <a:t>02 ·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16591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F7B89"/>
                </a:solidFill>
                <a:latin typeface="Menlo"/>
              </a:rPr>
              <a:t>03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F7B89"/>
                </a:solidFill>
                <a:latin typeface="Aptos"/>
              </a:rPr>
              <a:t>Private execution layer for user-owned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0591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F7B89"/>
                </a:solidFill>
                <a:latin typeface="Menlo"/>
              </a:rPr>
              <a:t>ghola.app  ·  seed pitch  ·  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" y="1207007"/>
            <a:ext cx="32004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1498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50876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There is no trusted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execution layer</a:t>
            </a:r>
            <a:r>
              <a:rPr sz="44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8404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C7CDD6"/>
                </a:solidFill>
                <a:latin typeface="Aptos"/>
              </a:rPr>
              <a:t>Identity, memory, permissions, and money are still stitched together app by app.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4663440"/>
            <a:ext cx="3474720" cy="141732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4892040"/>
            <a:ext cx="2834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18D7FF"/>
                </a:solidFill>
                <a:latin typeface="Aptos"/>
              </a:rPr>
              <a:t>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5230368"/>
            <a:ext cx="28346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0EAD8"/>
                </a:solidFill>
                <a:latin typeface="Aptos Display"/>
              </a:rPr>
              <a:t>siloed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5577840"/>
            <a:ext cx="28346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0EAD8"/>
                </a:solidFill>
                <a:latin typeface="Aptos Display"/>
              </a:rPr>
              <a:t>account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52544" y="4663440"/>
            <a:ext cx="3474720" cy="141732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4892040"/>
            <a:ext cx="2834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18D7FF"/>
                </a:solidFill>
                <a:latin typeface="Aptos"/>
              </a:rPr>
              <a:t>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5230368"/>
            <a:ext cx="28346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0EAD8"/>
                </a:solidFill>
                <a:latin typeface="Aptos Display"/>
              </a:rPr>
              <a:t>provider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5577840"/>
            <a:ext cx="28346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0EAD8"/>
                </a:solidFill>
                <a:latin typeface="Aptos Display"/>
              </a:rPr>
              <a:t>owned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1583" y="4663440"/>
            <a:ext cx="3474720" cy="141732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4" y="4892040"/>
            <a:ext cx="2834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18D7FF"/>
                </a:solidFill>
                <a:latin typeface="Aptos"/>
              </a:rPr>
              <a:t>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5230368"/>
            <a:ext cx="28346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0EAD8"/>
                </a:solidFill>
                <a:latin typeface="Aptos Display"/>
              </a:rPr>
              <a:t>human-first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5577840"/>
            <a:ext cx="28346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0EAD8"/>
                </a:solidFill>
                <a:latin typeface="Aptos Display"/>
              </a:rPr>
              <a:t>rails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15384" y="4983479"/>
            <a:ext cx="0" cy="777241"/>
          </a:xfrm>
          <a:prstGeom prst="line">
            <a:avLst/>
          </a:prstGeom>
          <a:ln w="12700">
            <a:solidFill>
              <a:srgbClr val="B6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64424" y="4983479"/>
            <a:ext cx="0" cy="777241"/>
          </a:xfrm>
          <a:prstGeom prst="line">
            <a:avLst/>
          </a:prstGeom>
          <a:ln w="12700">
            <a:solidFill>
              <a:srgbClr val="B6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03504" y="713232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3504" y="6355080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03504" y="475488"/>
            <a:ext cx="128016" cy="128016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400">
                <a:solidFill>
                  <a:srgbClr val="F0EAD8"/>
                </a:solidFill>
                <a:latin typeface="Aptos Display"/>
              </a:rPr>
              <a:t>GHOLA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864" y="384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400">
                <a:solidFill>
                  <a:srgbClr val="6F7B89"/>
                </a:solidFill>
                <a:latin typeface="Aptos"/>
              </a:rPr>
              <a:t>03 ·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16591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F7B89"/>
                </a:solidFill>
                <a:latin typeface="Menlo"/>
              </a:rPr>
              <a:t>04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F7B89"/>
                </a:solidFill>
                <a:latin typeface="Aptos"/>
              </a:rPr>
              <a:t>Private execution layer for user-owned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0591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F7B89"/>
                </a:solidFill>
                <a:latin typeface="Menlo"/>
              </a:rPr>
              <a:t>ghola.app  ·  seed pitch  ·  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" y="1207007"/>
            <a:ext cx="32004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1498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50876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Ghola binds intelligence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to authority</a:t>
            </a:r>
            <a:r>
              <a:rPr sz="44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8404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C7CDD6"/>
                </a:solidFill>
                <a:latin typeface="Aptos"/>
              </a:rPr>
              <a:t>A user-owned control plane for agents that act across apps, devices, and paid services.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4572000"/>
            <a:ext cx="2560320" cy="160020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" y="4572000"/>
            <a:ext cx="2560320" cy="54864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800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F7B89"/>
                </a:solidFill>
                <a:latin typeface="Menlo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7492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0EAD8"/>
                </a:solidFill>
                <a:latin typeface="Aptos Display"/>
              </a:rPr>
              <a:t>LOCAL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8064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F7B89"/>
                </a:solidFill>
                <a:latin typeface="Aptos"/>
              </a:rPr>
              <a:t>inference at the edge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28416" y="4572000"/>
            <a:ext cx="2560320" cy="160020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28416" y="4572000"/>
            <a:ext cx="2560320" cy="54864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4448" y="4800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F7B89"/>
                </a:solidFill>
                <a:latin typeface="Menlo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507492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0EAD8"/>
                </a:solidFill>
                <a:latin typeface="Aptos Display"/>
              </a:rPr>
              <a:t>PRIVATE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58064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F7B89"/>
                </a:solidFill>
                <a:latin typeface="Aptos"/>
              </a:rPr>
              <a:t>encrypted memory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4572000"/>
            <a:ext cx="2560320" cy="160020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53328" y="4572000"/>
            <a:ext cx="2560320" cy="54864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800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F7B89"/>
                </a:solidFill>
                <a:latin typeface="Menl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07492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0EAD8"/>
                </a:solidFill>
                <a:latin typeface="Aptos Display"/>
              </a:rPr>
              <a:t>SCOPED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8064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F7B89"/>
                </a:solidFill>
                <a:latin typeface="Aptos"/>
              </a:rPr>
              <a:t>delegated authority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4572000"/>
            <a:ext cx="2560320" cy="160020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78240" y="4572000"/>
            <a:ext cx="2560320" cy="54864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34272" y="4800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F7B89"/>
                </a:solidFill>
                <a:latin typeface="Menlo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34272" y="507492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0EAD8"/>
                </a:solidFill>
                <a:latin typeface="Aptos Display"/>
              </a:rPr>
              <a:t>STABLECOIN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4272" y="58064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F7B89"/>
                </a:solidFill>
                <a:latin typeface="Aptos"/>
              </a:rPr>
              <a:t>programmable receipts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03504" y="713232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3504" y="6355080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03504" y="475488"/>
            <a:ext cx="128016" cy="128016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400">
                <a:solidFill>
                  <a:srgbClr val="F0EAD8"/>
                </a:solidFill>
                <a:latin typeface="Aptos Display"/>
              </a:rPr>
              <a:t>GHOLA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864" y="384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400">
                <a:solidFill>
                  <a:srgbClr val="6F7B89"/>
                </a:solidFill>
                <a:latin typeface="Aptos"/>
              </a:rPr>
              <a:t>04 · PRODUCT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16591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F7B89"/>
                </a:solidFill>
                <a:latin typeface="Menlo"/>
              </a:rPr>
              <a:t>05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F7B89"/>
                </a:solidFill>
                <a:latin typeface="Aptos"/>
              </a:rPr>
              <a:t>Private execution layer for user-owned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0591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F7B89"/>
                </a:solidFill>
                <a:latin typeface="Menlo"/>
              </a:rPr>
              <a:t>ghola.app  ·  seed pitch  · 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95367" y="1133856"/>
            <a:ext cx="2167128" cy="4681728"/>
          </a:xfrm>
          <a:prstGeom prst="roundRect">
            <a:avLst>
              <a:gd name="adj" fmla="val 10000"/>
            </a:avLst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5_im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231" y="1188720"/>
            <a:ext cx="205740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50231" y="592531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18D7FF"/>
                </a:solidFill>
                <a:latin typeface="Aptos"/>
              </a:rPr>
              <a:t>assistant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5647" y="1133856"/>
            <a:ext cx="2167128" cy="4681728"/>
          </a:xfrm>
          <a:prstGeom prst="roundRect">
            <a:avLst>
              <a:gd name="adj" fmla="val 10000"/>
            </a:avLst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1_img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511" y="1188720"/>
            <a:ext cx="2057400" cy="4572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90511" y="592531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18D7FF"/>
                </a:solidFill>
                <a:latin typeface="Aptos"/>
              </a:rPr>
              <a:t>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5927" y="1133856"/>
            <a:ext cx="2167128" cy="4681728"/>
          </a:xfrm>
          <a:prstGeom prst="roundRect">
            <a:avLst>
              <a:gd name="adj" fmla="val 10000"/>
            </a:avLst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lide5_img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0791" y="1188720"/>
            <a:ext cx="2057400" cy="4572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30791" y="592531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18D7FF"/>
                </a:solidFill>
                <a:latin typeface="Aptos"/>
              </a:rPr>
              <a:t>wallet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3504" y="1207007"/>
            <a:ext cx="32004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1498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PRODUCT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1508760"/>
            <a:ext cx="4080967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0EAD8"/>
                </a:solidFill>
                <a:latin typeface="Aptos Display"/>
              </a:rPr>
              <a:t>A real product surface,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F0EAD8"/>
                </a:solidFill>
                <a:latin typeface="Aptos Display"/>
              </a:rPr>
              <a:t>not a concept deck</a:t>
            </a:r>
            <a:r>
              <a:rPr sz="32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3931920"/>
            <a:ext cx="408096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C7CDD6"/>
                </a:solidFill>
                <a:latin typeface="Aptos"/>
              </a:rPr>
              <a:t>Native assistant, wallet, and creation flows already exist across the stack — iOS, Android, and web, with a unified gateway behind them.</a:t>
            </a:r>
          </a:p>
        </p:txBody>
      </p:sp>
      <p:sp>
        <p:nvSpPr>
          <p:cNvPr id="23" name="Oval 22"/>
          <p:cNvSpPr/>
          <p:nvPr/>
        </p:nvSpPr>
        <p:spPr>
          <a:xfrm>
            <a:off x="603504" y="5166359"/>
            <a:ext cx="118872" cy="118872"/>
          </a:xfrm>
          <a:prstGeom prst="ellipse">
            <a:avLst/>
          </a:prstGeom>
          <a:solidFill>
            <a:srgbClr val="4EE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5074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0EAD8"/>
                </a:solidFill>
                <a:latin typeface="Aptos"/>
              </a:rPr>
              <a:t>ASSISTANT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6624" y="5074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F7B89"/>
                </a:solidFill>
                <a:latin typeface="Menlo"/>
              </a:rPr>
              <a:t>shipped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" y="5458968"/>
            <a:ext cx="118872" cy="118872"/>
          </a:xfrm>
          <a:prstGeom prst="ellipse">
            <a:avLst/>
          </a:prstGeom>
          <a:solidFill>
            <a:srgbClr val="4EE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5367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0EAD8"/>
                </a:solidFill>
                <a:latin typeface="Aptos"/>
              </a:rPr>
              <a:t>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6624" y="5367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F7B89"/>
                </a:solidFill>
                <a:latin typeface="Menlo"/>
              </a:rPr>
              <a:t>shipped</a:t>
            </a:r>
          </a:p>
        </p:txBody>
      </p:sp>
      <p:sp>
        <p:nvSpPr>
          <p:cNvPr id="29" name="Oval 28"/>
          <p:cNvSpPr/>
          <p:nvPr/>
        </p:nvSpPr>
        <p:spPr>
          <a:xfrm>
            <a:off x="603504" y="5751575"/>
            <a:ext cx="118872" cy="118872"/>
          </a:xfrm>
          <a:prstGeom prst="ellipse">
            <a:avLst/>
          </a:prstGeom>
          <a:solidFill>
            <a:srgbClr val="4EE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" y="566013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0EAD8"/>
                </a:solidFill>
                <a:latin typeface="Aptos"/>
              </a:rPr>
              <a:t>WALLET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6624" y="566013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F7B89"/>
                </a:solidFill>
                <a:latin typeface="Menlo"/>
              </a:rPr>
              <a:t>shipped</a:t>
            </a:r>
          </a:p>
        </p:txBody>
      </p:sp>
      <p:sp>
        <p:nvSpPr>
          <p:cNvPr id="32" name="Oval 31"/>
          <p:cNvSpPr/>
          <p:nvPr/>
        </p:nvSpPr>
        <p:spPr>
          <a:xfrm>
            <a:off x="603504" y="6044183"/>
            <a:ext cx="118872" cy="118872"/>
          </a:xfrm>
          <a:prstGeom prst="ellipse">
            <a:avLst/>
          </a:prstGeom>
          <a:solidFill>
            <a:srgbClr val="B6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" y="595274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0EAD8"/>
                </a:solidFill>
                <a:latin typeface="Aptos"/>
              </a:rPr>
              <a:t>MARKETPLACE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06624" y="595274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F7B89"/>
                </a:solidFill>
                <a:latin typeface="Menlo"/>
              </a:rPr>
              <a:t>in progress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03504" y="713232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3504" y="6355080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03504" y="475488"/>
            <a:ext cx="128016" cy="128016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400">
                <a:solidFill>
                  <a:srgbClr val="F0EAD8"/>
                </a:solidFill>
                <a:latin typeface="Aptos Display"/>
              </a:rPr>
              <a:t>GHOLA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864" y="384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400">
                <a:solidFill>
                  <a:srgbClr val="6F7B89"/>
                </a:solidFill>
                <a:latin typeface="Aptos"/>
              </a:rPr>
              <a:t>05 · CRYPTO-NATIVE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16591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F7B89"/>
                </a:solidFill>
                <a:latin typeface="Menlo"/>
              </a:rPr>
              <a:t>06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F7B89"/>
                </a:solidFill>
                <a:latin typeface="Aptos"/>
              </a:rPr>
              <a:t>Private execution layer for user-owned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0591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F7B89"/>
                </a:solidFill>
                <a:latin typeface="Menlo"/>
              </a:rPr>
              <a:t>ghola.app  ·  seed pitch  ·  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" y="1207007"/>
            <a:ext cx="32004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1498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CRYPTO-NATIVE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50876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0EAD8"/>
                </a:solidFill>
                <a:latin typeface="Aptos Display"/>
              </a:rPr>
              <a:t>Cards authenticate humans</a:t>
            </a:r>
          </a:p>
          <a:p>
            <a:pPr algn="l">
              <a:lnSpc>
                <a:spcPct val="105000"/>
              </a:lnSpc>
            </a:pPr>
            <a:r>
              <a:rPr sz="3800" b="1">
                <a:solidFill>
                  <a:srgbClr val="F0EAD8"/>
                </a:solidFill>
                <a:latin typeface="Aptos Display"/>
              </a:rPr>
              <a:t>Wallets can authorize agents</a:t>
            </a:r>
            <a:r>
              <a:rPr sz="38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749039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C7CDD6"/>
                </a:solidFill>
                <a:latin typeface="Aptos"/>
              </a:rPr>
              <a:t>Solana stablecoin settlement turns every agent action into a portable, programmable receipt.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4663440"/>
            <a:ext cx="2331720" cy="146304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" y="4663440"/>
            <a:ext cx="64008" cy="1463040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484632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200">
                <a:solidFill>
                  <a:srgbClr val="F0EAD8"/>
                </a:solidFill>
                <a:latin typeface="Aptos Display"/>
              </a:rPr>
              <a:t>WALLET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5376672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F7B89"/>
                </a:solidFill>
                <a:latin typeface="Aptos"/>
              </a:rPr>
              <a:t>user-owned  authority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80944" y="5394959"/>
            <a:ext cx="274319" cy="0"/>
          </a:xfrm>
          <a:prstGeom prst="line">
            <a:avLst/>
          </a:prstGeom>
          <a:ln w="9525">
            <a:solidFill>
              <a:srgbClr val="6F7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72384" y="52303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18D7FF"/>
                </a:solidFill>
                <a:latin typeface="Aptos Display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00984" y="4663440"/>
            <a:ext cx="2331720" cy="146304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00984" y="4663440"/>
            <a:ext cx="64008" cy="1463040"/>
          </a:xfrm>
          <a:prstGeom prst="rect">
            <a:avLst/>
          </a:prstGeom>
          <a:solidFill>
            <a:srgbClr val="F0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9584" y="484632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200">
                <a:solidFill>
                  <a:srgbClr val="F0EAD8"/>
                </a:solidFill>
                <a:latin typeface="Aptos Display"/>
              </a:rPr>
              <a:t>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5376672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F7B89"/>
                </a:solidFill>
                <a:latin typeface="Aptos"/>
              </a:rPr>
              <a:t>scoped  permission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78424" y="5394959"/>
            <a:ext cx="274320" cy="0"/>
          </a:xfrm>
          <a:prstGeom prst="line">
            <a:avLst/>
          </a:prstGeom>
          <a:ln w="9525">
            <a:solidFill>
              <a:srgbClr val="6F7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769864" y="52303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18D7FF"/>
                </a:solidFill>
                <a:latin typeface="Aptos Display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98464" y="4663440"/>
            <a:ext cx="2331720" cy="146304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8464" y="4663440"/>
            <a:ext cx="64008" cy="1463040"/>
          </a:xfrm>
          <a:prstGeom prst="rect">
            <a:avLst/>
          </a:prstGeom>
          <a:solidFill>
            <a:srgbClr val="F0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7064" y="484632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200">
                <a:solidFill>
                  <a:srgbClr val="F0EAD8"/>
                </a:solidFill>
                <a:latin typeface="Aptos Display"/>
              </a:rPr>
              <a:t>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7064" y="5376672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F7B89"/>
                </a:solidFill>
                <a:latin typeface="Aptos"/>
              </a:rPr>
              <a:t>off-chain  execution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75904" y="5394959"/>
            <a:ext cx="274320" cy="0"/>
          </a:xfrm>
          <a:prstGeom prst="line">
            <a:avLst/>
          </a:prstGeom>
          <a:ln w="9525">
            <a:solidFill>
              <a:srgbClr val="6F7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67344" y="52303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18D7FF"/>
                </a:solidFill>
                <a:latin typeface="Aptos Display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95944" y="4663440"/>
            <a:ext cx="2331720" cy="146304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95944" y="4663440"/>
            <a:ext cx="64008" cy="1463040"/>
          </a:xfrm>
          <a:prstGeom prst="rect">
            <a:avLst/>
          </a:prstGeom>
          <a:solidFill>
            <a:srgbClr val="B6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24544" y="484632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200">
                <a:solidFill>
                  <a:srgbClr val="F0EAD8"/>
                </a:solidFill>
                <a:latin typeface="Aptos Display"/>
              </a:rPr>
              <a:t>RECEIPT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24544" y="5376672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F7B89"/>
                </a:solidFill>
                <a:latin typeface="Aptos"/>
              </a:rPr>
              <a:t>stablecoin  on-chain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03504" y="713232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3504" y="6355080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03504" y="475488"/>
            <a:ext cx="128016" cy="128016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400">
                <a:solidFill>
                  <a:srgbClr val="F0EAD8"/>
                </a:solidFill>
                <a:latin typeface="Aptos Display"/>
              </a:rPr>
              <a:t>GHOLA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864" y="384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400">
                <a:solidFill>
                  <a:srgbClr val="6F7B89"/>
                </a:solidFill>
                <a:latin typeface="Aptos"/>
              </a:rPr>
              <a:t>06 · WEDGE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16591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F7B89"/>
                </a:solidFill>
                <a:latin typeface="Menlo"/>
              </a:rPr>
              <a:t>07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F7B89"/>
                </a:solidFill>
                <a:latin typeface="Aptos"/>
              </a:rPr>
              <a:t>Private execution layer for user-owned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0591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F7B89"/>
                </a:solidFill>
                <a:latin typeface="Menlo"/>
              </a:rPr>
              <a:t>ghola.app  ·  seed pitch  ·  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" y="1207007"/>
            <a:ext cx="32004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1498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WEDGE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50876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Start with private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personal work</a:t>
            </a:r>
            <a:r>
              <a:rPr sz="44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8404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C7CDD6"/>
                </a:solidFill>
                <a:latin typeface="Aptos"/>
              </a:rPr>
              <a:t>Calls, email, calendar, tasks, and approvals are where trust becomes product value — the daily surface where users feel agent leverage first.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5394960"/>
            <a:ext cx="2606040" cy="502920"/>
          </a:xfrm>
          <a:prstGeom prst="rect">
            <a:avLst/>
          </a:prstGeom>
          <a:solidFill>
            <a:srgbClr val="18D7FF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548640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A0D14"/>
                </a:solidFill>
                <a:latin typeface="Aptos"/>
              </a:rPr>
              <a:t>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598932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F7B89"/>
                </a:solidFill>
                <a:latin typeface="Aptos"/>
              </a:rPr>
              <a:t>daily personal 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4136" y="5212080"/>
            <a:ext cx="2606040" cy="68580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74136" y="5212080"/>
            <a:ext cx="2606040" cy="54864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530352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F0EAD8"/>
                </a:solidFill>
                <a:latin typeface="Aptos"/>
              </a:rPr>
              <a:t>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598932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F7B89"/>
                </a:solidFill>
                <a:latin typeface="Aptos"/>
              </a:rPr>
              <a:t>scoped consent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5029200"/>
            <a:ext cx="2606040" cy="86868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5029200"/>
            <a:ext cx="2606040" cy="54864"/>
          </a:xfrm>
          <a:prstGeom prst="rect">
            <a:avLst/>
          </a:prstGeom>
          <a:solidFill>
            <a:srgbClr val="F0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51206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F0EAD8"/>
                </a:solidFill>
                <a:latin typeface="Aptos"/>
              </a:rPr>
              <a:t>COMMERCE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598932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F7B89"/>
                </a:solidFill>
                <a:latin typeface="Aptos"/>
              </a:rPr>
              <a:t>agent transactions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15400" y="4846320"/>
            <a:ext cx="2606040" cy="105156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15400" y="4846320"/>
            <a:ext cx="2606040" cy="54864"/>
          </a:xfrm>
          <a:prstGeom prst="rect">
            <a:avLst/>
          </a:prstGeom>
          <a:solidFill>
            <a:srgbClr val="B6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4937759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F0EAD8"/>
                </a:solidFill>
                <a:latin typeface="Aptos"/>
              </a:rPr>
              <a:t>MARKETPLACE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98932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F7B89"/>
                </a:solidFill>
                <a:latin typeface="Aptos"/>
              </a:rPr>
              <a:t>ecosystem flywheel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03504" y="713232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3504" y="6355080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03504" y="475488"/>
            <a:ext cx="128016" cy="128016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400">
                <a:solidFill>
                  <a:srgbClr val="F0EAD8"/>
                </a:solidFill>
                <a:latin typeface="Aptos Display"/>
              </a:rPr>
              <a:t>GHOLA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864" y="384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400">
                <a:solidFill>
                  <a:srgbClr val="6F7B89"/>
                </a:solidFill>
                <a:latin typeface="Aptos"/>
              </a:rPr>
              <a:t>07 ·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16591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F7B89"/>
                </a:solidFill>
                <a:latin typeface="Menlo"/>
              </a:rPr>
              <a:t>08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F7B89"/>
                </a:solidFill>
                <a:latin typeface="Aptos"/>
              </a:rPr>
              <a:t>Private execution layer for user-owned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0591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F7B89"/>
                </a:solidFill>
                <a:latin typeface="Menlo"/>
              </a:rPr>
              <a:t>ghola.app  ·  seed pitch  ·  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" y="1207007"/>
            <a:ext cx="32004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1498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50876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One control plane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Many surfaces</a:t>
            </a:r>
            <a:r>
              <a:rPr sz="44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3749039"/>
            <a:ext cx="8046720" cy="329184"/>
          </a:xfrm>
          <a:prstGeom prst="rect">
            <a:avLst/>
          </a:prstGeom>
          <a:solidFill>
            <a:srgbClr val="10141D"/>
          </a:solidFill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3749039"/>
            <a:ext cx="54864" cy="329184"/>
          </a:xfrm>
          <a:prstGeom prst="rect">
            <a:avLst/>
          </a:prstGeom>
          <a:solidFill>
            <a:srgbClr val="F0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374903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300">
                <a:solidFill>
                  <a:srgbClr val="F0EAD8"/>
                </a:solidFill>
                <a:latin typeface="Aptos"/>
              </a:rPr>
              <a:t>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3749039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F7B89"/>
                </a:solidFill>
                <a:latin typeface="Aptos"/>
              </a:rPr>
              <a:t>iOS · Android · Web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" y="4169663"/>
            <a:ext cx="8046720" cy="329184"/>
          </a:xfrm>
          <a:prstGeom prst="rect">
            <a:avLst/>
          </a:prstGeom>
          <a:solidFill>
            <a:srgbClr val="10141D"/>
          </a:solidFill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" y="4169663"/>
            <a:ext cx="54864" cy="329184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4169663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300">
                <a:solidFill>
                  <a:srgbClr val="F0EAD8"/>
                </a:solidFill>
                <a:latin typeface="Aptos"/>
              </a:rPr>
              <a:t>LOCAL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5224" y="4169663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F7B89"/>
                </a:solidFill>
                <a:latin typeface="Aptos"/>
              </a:rPr>
              <a:t>on-device 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" y="4590288"/>
            <a:ext cx="8046720" cy="329184"/>
          </a:xfrm>
          <a:prstGeom prst="rect">
            <a:avLst/>
          </a:prstGeom>
          <a:solidFill>
            <a:srgbClr val="10141D"/>
          </a:solidFill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" y="4590288"/>
            <a:ext cx="54864" cy="329184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4590288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300">
                <a:solidFill>
                  <a:srgbClr val="F0EAD8"/>
                </a:solidFill>
                <a:latin typeface="Aptos"/>
              </a:rPr>
              <a:t>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5224" y="4590288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F7B89"/>
                </a:solidFill>
                <a:latin typeface="Aptos"/>
              </a:rPr>
              <a:t>encrypted 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" y="5010912"/>
            <a:ext cx="8046720" cy="329184"/>
          </a:xfrm>
          <a:prstGeom prst="rect">
            <a:avLst/>
          </a:prstGeom>
          <a:solidFill>
            <a:srgbClr val="10141D"/>
          </a:solidFill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" y="5010912"/>
            <a:ext cx="54864" cy="329184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5010912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300">
                <a:solidFill>
                  <a:srgbClr val="F0EAD8"/>
                </a:solidFill>
                <a:latin typeface="Aptos"/>
              </a:rPr>
              <a:t>EXECUTE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35224" y="5010912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F7B89"/>
                </a:solidFill>
                <a:latin typeface="Aptos"/>
              </a:rPr>
              <a:t>scoped actions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" y="5431536"/>
            <a:ext cx="8046720" cy="329184"/>
          </a:xfrm>
          <a:prstGeom prst="rect">
            <a:avLst/>
          </a:prstGeom>
          <a:solidFill>
            <a:srgbClr val="10141D"/>
          </a:solidFill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" y="5431536"/>
            <a:ext cx="54864" cy="329184"/>
          </a:xfrm>
          <a:prstGeom prst="rect">
            <a:avLst/>
          </a:prstGeom>
          <a:solidFill>
            <a:srgbClr val="B6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" y="5431536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300">
                <a:solidFill>
                  <a:srgbClr val="F0EAD8"/>
                </a:solidFill>
                <a:latin typeface="Aptos"/>
              </a:rPr>
              <a:t>SETTLE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35224" y="5431536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F7B89"/>
                </a:solidFill>
                <a:latin typeface="Aptos"/>
              </a:rPr>
              <a:t>stablecoin rails (Solana)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" y="5852159"/>
            <a:ext cx="8046720" cy="329184"/>
          </a:xfrm>
          <a:prstGeom prst="rect">
            <a:avLst/>
          </a:prstGeom>
          <a:solidFill>
            <a:srgbClr val="10141D"/>
          </a:solidFill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" y="5852159"/>
            <a:ext cx="54864" cy="329184"/>
          </a:xfrm>
          <a:prstGeom prst="rect">
            <a:avLst/>
          </a:prstGeom>
          <a:solidFill>
            <a:srgbClr val="B6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" y="585215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300">
                <a:solidFill>
                  <a:srgbClr val="F0EAD8"/>
                </a:solidFill>
                <a:latin typeface="Aptos"/>
              </a:rPr>
              <a:t>RECEIPT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5224" y="5852159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F7B89"/>
                </a:solidFill>
                <a:latin typeface="Aptos"/>
              </a:rPr>
              <a:t>verifiable history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15984" y="338327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6F7B89"/>
                </a:solidFill>
                <a:latin typeface="Aptos"/>
              </a:rPr>
              <a:t>SURFACES</a:t>
            </a:r>
          </a:p>
        </p:txBody>
      </p:sp>
      <p:sp>
        <p:nvSpPr>
          <p:cNvPr id="38" name="Oval 37"/>
          <p:cNvSpPr/>
          <p:nvPr/>
        </p:nvSpPr>
        <p:spPr>
          <a:xfrm>
            <a:off x="9015984" y="3840479"/>
            <a:ext cx="73152" cy="73152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98864" y="3749039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0EAD8"/>
                </a:solidFill>
                <a:latin typeface="Aptos"/>
              </a:rPr>
              <a:t>iOS</a:t>
            </a:r>
          </a:p>
        </p:txBody>
      </p:sp>
      <p:sp>
        <p:nvSpPr>
          <p:cNvPr id="40" name="Oval 39"/>
          <p:cNvSpPr/>
          <p:nvPr/>
        </p:nvSpPr>
        <p:spPr>
          <a:xfrm>
            <a:off x="9015984" y="4096511"/>
            <a:ext cx="73152" cy="73152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0050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0EAD8"/>
                </a:solidFill>
                <a:latin typeface="Aptos"/>
              </a:rPr>
              <a:t>Android</a:t>
            </a:r>
          </a:p>
        </p:txBody>
      </p:sp>
      <p:sp>
        <p:nvSpPr>
          <p:cNvPr id="42" name="Oval 41"/>
          <p:cNvSpPr/>
          <p:nvPr/>
        </p:nvSpPr>
        <p:spPr>
          <a:xfrm>
            <a:off x="9015984" y="4352544"/>
            <a:ext cx="73152" cy="73152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98864" y="426110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0EAD8"/>
                </a:solidFill>
                <a:latin typeface="Aptos"/>
              </a:rPr>
              <a:t>Web</a:t>
            </a:r>
          </a:p>
        </p:txBody>
      </p:sp>
      <p:sp>
        <p:nvSpPr>
          <p:cNvPr id="44" name="Oval 43"/>
          <p:cNvSpPr/>
          <p:nvPr/>
        </p:nvSpPr>
        <p:spPr>
          <a:xfrm>
            <a:off x="9015984" y="4608575"/>
            <a:ext cx="73152" cy="73152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98864" y="4517136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0EAD8"/>
                </a:solidFill>
                <a:latin typeface="Aptos"/>
              </a:rPr>
              <a:t>SAID</a:t>
            </a:r>
          </a:p>
        </p:txBody>
      </p:sp>
      <p:sp>
        <p:nvSpPr>
          <p:cNvPr id="46" name="Oval 45"/>
          <p:cNvSpPr/>
          <p:nvPr/>
        </p:nvSpPr>
        <p:spPr>
          <a:xfrm>
            <a:off x="9015984" y="4864607"/>
            <a:ext cx="73152" cy="73152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98864" y="477316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0EAD8"/>
                </a:solidFill>
                <a:latin typeface="Aptos"/>
              </a:rPr>
              <a:t>Thumper</a:t>
            </a:r>
          </a:p>
        </p:txBody>
      </p:sp>
      <p:sp>
        <p:nvSpPr>
          <p:cNvPr id="48" name="Oval 47"/>
          <p:cNvSpPr/>
          <p:nvPr/>
        </p:nvSpPr>
        <p:spPr>
          <a:xfrm>
            <a:off x="9015984" y="5120640"/>
            <a:ext cx="73152" cy="73152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98864" y="502920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0EAD8"/>
                </a:solidFill>
                <a:latin typeface="Aptos"/>
              </a:rPr>
              <a:t>Gateway</a:t>
            </a:r>
          </a:p>
        </p:txBody>
      </p:sp>
      <p:sp>
        <p:nvSpPr>
          <p:cNvPr id="50" name="Oval 49"/>
          <p:cNvSpPr/>
          <p:nvPr/>
        </p:nvSpPr>
        <p:spPr>
          <a:xfrm>
            <a:off x="9015984" y="5376671"/>
            <a:ext cx="73152" cy="73152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98864" y="5285231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0EAD8"/>
                </a:solidFill>
                <a:latin typeface="Aptos"/>
              </a:rPr>
              <a:t>Orni</a:t>
            </a:r>
          </a:p>
        </p:txBody>
      </p:sp>
      <p:sp>
        <p:nvSpPr>
          <p:cNvPr id="52" name="Oval 51"/>
          <p:cNvSpPr/>
          <p:nvPr/>
        </p:nvSpPr>
        <p:spPr>
          <a:xfrm>
            <a:off x="9015984" y="5632703"/>
            <a:ext cx="73152" cy="73152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98864" y="554126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0EAD8"/>
                </a:solidFill>
                <a:latin typeface="Aptos"/>
              </a:rPr>
              <a:t>SDK / MCP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03504" y="713232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3504" y="6355080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03504" y="475488"/>
            <a:ext cx="128016" cy="128016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400">
                <a:solidFill>
                  <a:srgbClr val="F0EAD8"/>
                </a:solidFill>
                <a:latin typeface="Aptos Display"/>
              </a:rPr>
              <a:t>GHOLA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864" y="384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400">
                <a:solidFill>
                  <a:srgbClr val="6F7B89"/>
                </a:solidFill>
                <a:latin typeface="Aptos"/>
              </a:rPr>
              <a:t>08 · 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16591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F7B89"/>
                </a:solidFill>
                <a:latin typeface="Menlo"/>
              </a:rPr>
              <a:t>09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F7B89"/>
                </a:solidFill>
                <a:latin typeface="Aptos"/>
              </a:rPr>
              <a:t>Private execution layer for user-owned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0591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F7B89"/>
                </a:solidFill>
                <a:latin typeface="Menlo"/>
              </a:rPr>
              <a:t>ghola.app  ·  seed pitch  ·  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" y="1207007"/>
            <a:ext cx="32004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1498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BUSINESS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50876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Revenue follows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agent transactions</a:t>
            </a:r>
            <a:r>
              <a:rPr sz="44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8404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C7CDD6"/>
                </a:solidFill>
                <a:latin typeface="Aptos"/>
              </a:rPr>
              <a:t>Three concentric revenue streams that compound as the authority graph grows.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4663440"/>
            <a:ext cx="3474720" cy="150876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" y="4663440"/>
            <a:ext cx="3474720" cy="54864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828031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F7B89"/>
                </a:solidFill>
                <a:latin typeface="Menlo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047488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200">
                <a:solidFill>
                  <a:srgbClr val="F0EAD8"/>
                </a:solidFill>
                <a:latin typeface="Aptos Display"/>
              </a:rPr>
              <a:t>SUBSCRIPTION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376672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8D7FF"/>
                </a:solidFill>
                <a:latin typeface="Aptos"/>
              </a:rPr>
              <a:t>private 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650992"/>
            <a:ext cx="29260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7CDD6"/>
                </a:solidFill>
                <a:latin typeface="Aptos"/>
              </a:rPr>
              <a:t>Per-user subscription for the local-first agent and encrypted state.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1104" y="4663440"/>
            <a:ext cx="3474720" cy="150876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61104" y="4663440"/>
            <a:ext cx="3474720" cy="54864"/>
          </a:xfrm>
          <a:prstGeom prst="rect">
            <a:avLst/>
          </a:prstGeom>
          <a:solidFill>
            <a:srgbClr val="F0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35424" y="4828031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F7B89"/>
                </a:solidFill>
                <a:latin typeface="Menlo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5047488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200">
                <a:solidFill>
                  <a:srgbClr val="F0EAD8"/>
                </a:solidFill>
                <a:latin typeface="Aptos Display"/>
              </a:rPr>
              <a:t>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5376672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0EAD8"/>
                </a:solidFill>
                <a:latin typeface="Aptos"/>
              </a:rPr>
              <a:t>paid agent calls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5650992"/>
            <a:ext cx="29260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7CDD6"/>
                </a:solidFill>
                <a:latin typeface="Aptos"/>
              </a:rPr>
              <a:t>Take rate on agent-initiated API calls and paid service execution.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18704" y="4663440"/>
            <a:ext cx="3474720" cy="150876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18704" y="4663440"/>
            <a:ext cx="3474720" cy="54864"/>
          </a:xfrm>
          <a:prstGeom prst="rect">
            <a:avLst/>
          </a:prstGeom>
          <a:solidFill>
            <a:srgbClr val="B6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4" y="4828031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F7B89"/>
                </a:solidFill>
                <a:latin typeface="Menlo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4" y="5047488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200">
                <a:solidFill>
                  <a:srgbClr val="F0EAD8"/>
                </a:solidFill>
                <a:latin typeface="Aptos Display"/>
              </a:rPr>
              <a:t>MARKETPLACE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4" y="5376672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6BFF"/>
                </a:solidFill>
                <a:latin typeface="Aptos"/>
              </a:rPr>
              <a:t>models, tools,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3024" y="5650992"/>
            <a:ext cx="29260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7CDD6"/>
                </a:solidFill>
                <a:latin typeface="Aptos"/>
              </a:rPr>
              <a:t>Revenue share on third-party models, tools, and services consumed by user agents.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03504" y="713232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3504" y="6355080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03504" y="475488"/>
            <a:ext cx="128016" cy="128016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400">
                <a:solidFill>
                  <a:srgbClr val="F0EAD8"/>
                </a:solidFill>
                <a:latin typeface="Aptos Display"/>
              </a:rPr>
              <a:t>GHOLA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864" y="384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400">
                <a:solidFill>
                  <a:srgbClr val="6F7B89"/>
                </a:solidFill>
                <a:latin typeface="Aptos"/>
              </a:rPr>
              <a:t>09 · COMPETITIVE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16591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F7B89"/>
                </a:solidFill>
                <a:latin typeface="Menlo"/>
              </a:rPr>
              <a:t>10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F7B89"/>
                </a:solidFill>
                <a:latin typeface="Aptos"/>
              </a:rPr>
              <a:t>Private execution layer for user-owned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0591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F7B89"/>
                </a:solidFill>
                <a:latin typeface="Menlo"/>
              </a:rPr>
              <a:t>ghola.app  ·  seed pitch  ·  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" y="1207007"/>
            <a:ext cx="32004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1498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COMPETITIVE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50876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Ghola sits in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the hard quadrant</a:t>
            </a:r>
            <a:r>
              <a:rPr sz="44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749039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C7CDD6"/>
                </a:solidFill>
                <a:latin typeface="Aptos"/>
              </a:rPr>
              <a:t>Local privacy plus programmable settlement.
Most players sit on one axis. Few combine both.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417320"/>
            <a:ext cx="4023360" cy="402336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863840" y="3429000"/>
            <a:ext cx="3474720" cy="0"/>
          </a:xfrm>
          <a:prstGeom prst="line">
            <a:avLst/>
          </a:prstGeom>
          <a:ln w="9525">
            <a:solidFill>
              <a:srgbClr val="2A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01200" y="1691640"/>
            <a:ext cx="0" cy="3474720"/>
          </a:xfrm>
          <a:prstGeom prst="line">
            <a:avLst/>
          </a:prstGeom>
          <a:ln w="9525">
            <a:solidFill>
              <a:srgbClr val="2A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0" y="5056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300">
                <a:solidFill>
                  <a:srgbClr val="6F7B89"/>
                </a:solidFill>
                <a:latin typeface="Aptos"/>
              </a:rPr>
              <a:t>PROGRAMMABLE SETTLEMENT 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50876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300">
                <a:solidFill>
                  <a:srgbClr val="6F7B89"/>
                </a:solidFill>
                <a:latin typeface="Aptos"/>
              </a:rPr>
              <a:t>↑  LOCAL PRIVACY</a:t>
            </a:r>
          </a:p>
        </p:txBody>
      </p:sp>
      <p:sp>
        <p:nvSpPr>
          <p:cNvPr id="19" name="Oval 18"/>
          <p:cNvSpPr/>
          <p:nvPr/>
        </p:nvSpPr>
        <p:spPr>
          <a:xfrm>
            <a:off x="8231428" y="4473244"/>
            <a:ext cx="164592" cy="164592"/>
          </a:xfrm>
          <a:prstGeom prst="ellipse">
            <a:avLst/>
          </a:prstGeom>
          <a:solidFill>
            <a:srgbClr val="6F7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7460" y="44366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C7CDD6"/>
                </a:solidFill>
                <a:latin typeface="Aptos"/>
              </a:rPr>
              <a:t>Chat apps</a:t>
            </a:r>
          </a:p>
        </p:txBody>
      </p:sp>
      <p:sp>
        <p:nvSpPr>
          <p:cNvPr id="21" name="Oval 20"/>
          <p:cNvSpPr/>
          <p:nvPr/>
        </p:nvSpPr>
        <p:spPr>
          <a:xfrm>
            <a:off x="8392363" y="2542032"/>
            <a:ext cx="164592" cy="164592"/>
          </a:xfrm>
          <a:prstGeom prst="ellipse">
            <a:avLst/>
          </a:prstGeom>
          <a:solidFill>
            <a:srgbClr val="6F7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8395" y="250545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C7CDD6"/>
                </a:solidFill>
                <a:latin typeface="Aptos"/>
              </a:rPr>
              <a:t>Local LLM apps</a:t>
            </a:r>
          </a:p>
        </p:txBody>
      </p:sp>
      <p:sp>
        <p:nvSpPr>
          <p:cNvPr id="23" name="Oval 22"/>
          <p:cNvSpPr/>
          <p:nvPr/>
        </p:nvSpPr>
        <p:spPr>
          <a:xfrm>
            <a:off x="10323576" y="4473244"/>
            <a:ext cx="164592" cy="164592"/>
          </a:xfrm>
          <a:prstGeom prst="ellipse">
            <a:avLst/>
          </a:prstGeom>
          <a:solidFill>
            <a:srgbClr val="6F7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9608" y="44366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C7CDD6"/>
                </a:solidFill>
                <a:latin typeface="Aptos"/>
              </a:rPr>
              <a:t>Wallet infra</a:t>
            </a:r>
          </a:p>
        </p:txBody>
      </p:sp>
      <p:sp>
        <p:nvSpPr>
          <p:cNvPr id="25" name="Oval 24"/>
          <p:cNvSpPr/>
          <p:nvPr/>
        </p:nvSpPr>
        <p:spPr>
          <a:xfrm>
            <a:off x="10645444" y="3990441"/>
            <a:ext cx="164592" cy="164592"/>
          </a:xfrm>
          <a:prstGeom prst="ellipse">
            <a:avLst/>
          </a:prstGeom>
          <a:solidFill>
            <a:srgbClr val="6F7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53804" y="3953865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C7CDD6"/>
                </a:solidFill>
                <a:latin typeface="Aptos"/>
              </a:rPr>
              <a:t>Payment rails</a:t>
            </a:r>
          </a:p>
        </p:txBody>
      </p:sp>
      <p:sp>
        <p:nvSpPr>
          <p:cNvPr id="27" name="Oval 26"/>
          <p:cNvSpPr/>
          <p:nvPr/>
        </p:nvSpPr>
        <p:spPr>
          <a:xfrm>
            <a:off x="10193731" y="2009851"/>
            <a:ext cx="585216" cy="585216"/>
          </a:xfrm>
          <a:prstGeom prst="ellipse">
            <a:avLst/>
          </a:prstGeom>
          <a:solidFill>
            <a:srgbClr val="0E7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40035" y="2156155"/>
            <a:ext cx="292608" cy="292608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8395" y="2183587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18D7FF"/>
                </a:solidFill>
                <a:latin typeface="Aptos"/>
              </a:rPr>
              <a:t>Ghola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03504" y="713232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3504" y="6355080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03504" y="475488"/>
            <a:ext cx="128016" cy="128016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400">
                <a:solidFill>
                  <a:srgbClr val="F0EAD8"/>
                </a:solidFill>
                <a:latin typeface="Aptos Display"/>
              </a:rPr>
              <a:t>GHOLA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864" y="384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400">
                <a:solidFill>
                  <a:srgbClr val="6F7B89"/>
                </a:solidFill>
                <a:latin typeface="Aptos"/>
              </a:rPr>
              <a:t>10 · 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16591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F7B89"/>
                </a:solidFill>
                <a:latin typeface="Menlo"/>
              </a:rPr>
              <a:t>11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F7B89"/>
                </a:solidFill>
                <a:latin typeface="Aptos"/>
              </a:rPr>
              <a:t>Private execution layer for user-owned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0591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F7B89"/>
                </a:solidFill>
                <a:latin typeface="Menlo"/>
              </a:rPr>
              <a:t>ghola.app  ·  seed pitch  ·  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" y="1207007"/>
            <a:ext cx="32004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1498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MOAT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50876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The moat is the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authority graph</a:t>
            </a:r>
            <a:r>
              <a:rPr sz="44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8404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C7CDD6"/>
                </a:solidFill>
                <a:latin typeface="Aptos"/>
              </a:rPr>
              <a:t>Every approved action compounds user-owned context, trust, and settlement history — a private graph no incumbent can rebuild.</a:t>
            </a:r>
          </a:p>
        </p:txBody>
      </p:sp>
      <p:sp>
        <p:nvSpPr>
          <p:cNvPr id="14" name="Oval 13"/>
          <p:cNvSpPr/>
          <p:nvPr/>
        </p:nvSpPr>
        <p:spPr>
          <a:xfrm>
            <a:off x="5362956" y="4617720"/>
            <a:ext cx="1463039" cy="1463039"/>
          </a:xfrm>
          <a:prstGeom prst="ellipse">
            <a:avLst/>
          </a:prstGeom>
          <a:noFill/>
          <a:ln w="6350">
            <a:solidFill>
              <a:srgbClr val="0E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H="1">
            <a:off x="5454396" y="5532120"/>
            <a:ext cx="640080" cy="0"/>
          </a:xfrm>
          <a:prstGeom prst="line">
            <a:avLst/>
          </a:prstGeom>
          <a:ln w="9525">
            <a:solidFill>
              <a:srgbClr val="2A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094476" y="5074920"/>
            <a:ext cx="1463040" cy="457200"/>
          </a:xfrm>
          <a:prstGeom prst="line">
            <a:avLst/>
          </a:prstGeom>
          <a:ln w="9525">
            <a:solidFill>
              <a:srgbClr val="2A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4476" y="5532120"/>
            <a:ext cx="1463040" cy="457200"/>
          </a:xfrm>
          <a:prstGeom prst="line">
            <a:avLst/>
          </a:prstGeom>
          <a:ln w="9525">
            <a:solidFill>
              <a:srgbClr val="2A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454396" y="4709159"/>
            <a:ext cx="1280160" cy="1280160"/>
          </a:xfrm>
          <a:prstGeom prst="ellipse">
            <a:avLst/>
          </a:prstGeom>
          <a:solidFill>
            <a:srgbClr val="10141D"/>
          </a:solidFill>
          <a:ln w="15875">
            <a:solidFill>
              <a:srgbClr val="18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4396" y="50292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18D7FF"/>
                </a:solidFill>
                <a:latin typeface="Aptos"/>
              </a:rPr>
              <a:t>AUTHORITY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4396" y="5303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18D7FF"/>
                </a:solidFill>
                <a:latin typeface="Aptos"/>
              </a:rPr>
              <a:t>GRAPH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25596" y="5303520"/>
            <a:ext cx="1828800" cy="502920"/>
          </a:xfrm>
          <a:prstGeom prst="rect">
            <a:avLst/>
          </a:prstGeom>
          <a:solidFill>
            <a:srgbClr val="10141D"/>
          </a:solidFill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25596" y="5303520"/>
            <a:ext cx="54864" cy="502920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0187" y="5330952"/>
            <a:ext cx="162763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0EAD8"/>
                </a:solidFill>
                <a:latin typeface="Aptos"/>
              </a:rPr>
              <a:t>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0187" y="5550407"/>
            <a:ext cx="162763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F7B89"/>
                </a:solidFill>
                <a:latin typeface="Aptos"/>
              </a:rPr>
              <a:t>encrypted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57516" y="4800600"/>
            <a:ext cx="1828800" cy="502920"/>
          </a:xfrm>
          <a:prstGeom prst="rect">
            <a:avLst/>
          </a:prstGeom>
          <a:solidFill>
            <a:srgbClr val="10141D"/>
          </a:solidFill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57516" y="4800600"/>
            <a:ext cx="54864" cy="502920"/>
          </a:xfrm>
          <a:prstGeom prst="rect">
            <a:avLst/>
          </a:prstGeom>
          <a:solidFill>
            <a:srgbClr val="F0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2108" y="4828032"/>
            <a:ext cx="162763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0EAD8"/>
                </a:solidFill>
                <a:latin typeface="Aptos"/>
              </a:rPr>
              <a:t>PERMISSIONS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2108" y="5047488"/>
            <a:ext cx="162763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F7B89"/>
                </a:solidFill>
                <a:latin typeface="Aptos"/>
              </a:rPr>
              <a:t>scoped grants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57516" y="5806440"/>
            <a:ext cx="1828800" cy="502920"/>
          </a:xfrm>
          <a:prstGeom prst="rect">
            <a:avLst/>
          </a:prstGeom>
          <a:solidFill>
            <a:srgbClr val="10141D"/>
          </a:solidFill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57516" y="5806440"/>
            <a:ext cx="54864" cy="502920"/>
          </a:xfrm>
          <a:prstGeom prst="rect">
            <a:avLst/>
          </a:prstGeom>
          <a:solidFill>
            <a:srgbClr val="B6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2108" y="5833872"/>
            <a:ext cx="162763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0EAD8"/>
                </a:solidFill>
                <a:latin typeface="Aptos"/>
              </a:rPr>
              <a:t>RECEIPTS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2108" y="6053327"/>
            <a:ext cx="162763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F7B89"/>
                </a:solidFill>
                <a:latin typeface="Aptos"/>
              </a:rPr>
              <a:t>settlement history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03504" y="713232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3504" y="6355080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03504" y="475488"/>
            <a:ext cx="128016" cy="128016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400">
                <a:solidFill>
                  <a:srgbClr val="F0EAD8"/>
                </a:solidFill>
                <a:latin typeface="Aptos Display"/>
              </a:rPr>
              <a:t>GHOLA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864" y="384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400">
                <a:solidFill>
                  <a:srgbClr val="6F7B89"/>
                </a:solidFill>
                <a:latin typeface="Aptos"/>
              </a:rPr>
              <a:t>11 · PROOF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16591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F7B89"/>
                </a:solidFill>
                <a:latin typeface="Menlo"/>
              </a:rPr>
              <a:t>12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F7B89"/>
                </a:solidFill>
                <a:latin typeface="Aptos"/>
              </a:rPr>
              <a:t>Private execution layer for user-owned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0591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F7B89"/>
                </a:solidFill>
                <a:latin typeface="Menlo"/>
              </a:rPr>
              <a:t>ghola.app  ·  seed pitch  ·  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" y="1207007"/>
            <a:ext cx="32004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1498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PROOF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50876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The demo should be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a private purchase</a:t>
            </a:r>
            <a:r>
              <a:rPr sz="44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8404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C7CDD6"/>
                </a:solidFill>
                <a:latin typeface="Aptos"/>
              </a:rPr>
              <a:t>A local agent books a service, asks approval, pays in stablecoins, and saves the receipt — end-to-end, on-device first.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0704" y="5303520"/>
            <a:ext cx="10003536" cy="0"/>
          </a:xfrm>
          <a:prstGeom prst="line">
            <a:avLst/>
          </a:prstGeom>
          <a:ln w="9525">
            <a:solidFill>
              <a:srgbClr val="2A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32204" y="5029200"/>
            <a:ext cx="548640" cy="548640"/>
          </a:xfrm>
          <a:prstGeom prst="ellipse">
            <a:avLst/>
          </a:prstGeom>
          <a:solidFill>
            <a:srgbClr val="10141D"/>
          </a:solidFill>
          <a:ln w="19050">
            <a:solidFill>
              <a:srgbClr val="18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2204" y="50292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8D7FF"/>
                </a:solidFill>
                <a:latin typeface="Aptos Display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571500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 spc="200">
                <a:solidFill>
                  <a:srgbClr val="F0EAD8"/>
                </a:solidFill>
                <a:latin typeface="Aptos Display"/>
              </a:rPr>
              <a:t>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60350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6F7B89"/>
                </a:solidFill>
                <a:latin typeface="Aptos"/>
              </a:rPr>
              <a:t>agent perceives intent</a:t>
            </a:r>
          </a:p>
        </p:txBody>
      </p:sp>
      <p:sp>
        <p:nvSpPr>
          <p:cNvPr id="19" name="Oval 18"/>
          <p:cNvSpPr/>
          <p:nvPr/>
        </p:nvSpPr>
        <p:spPr>
          <a:xfrm>
            <a:off x="4402836" y="5029200"/>
            <a:ext cx="548640" cy="548640"/>
          </a:xfrm>
          <a:prstGeom prst="ellipse">
            <a:avLst/>
          </a:prstGeom>
          <a:solidFill>
            <a:srgbClr val="10141D"/>
          </a:solidFill>
          <a:ln w="19050">
            <a:solidFill>
              <a:srgbClr val="F0E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2836" y="50292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0EAD8"/>
                </a:solidFill>
                <a:latin typeface="Aptos Display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571500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 spc="200">
                <a:solidFill>
                  <a:srgbClr val="F0EAD8"/>
                </a:solidFill>
                <a:latin typeface="Aptos Display"/>
              </a:rPr>
              <a:t>APPROVE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60350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6F7B89"/>
                </a:solidFill>
                <a:latin typeface="Aptos"/>
              </a:rPr>
              <a:t>user grants scope</a:t>
            </a:r>
          </a:p>
        </p:txBody>
      </p:sp>
      <p:sp>
        <p:nvSpPr>
          <p:cNvPr id="23" name="Oval 22"/>
          <p:cNvSpPr/>
          <p:nvPr/>
        </p:nvSpPr>
        <p:spPr>
          <a:xfrm>
            <a:off x="7173468" y="5029200"/>
            <a:ext cx="548640" cy="548640"/>
          </a:xfrm>
          <a:prstGeom prst="ellipse">
            <a:avLst/>
          </a:prstGeom>
          <a:solidFill>
            <a:srgbClr val="10141D"/>
          </a:solidFill>
          <a:ln w="19050">
            <a:solidFill>
              <a:srgbClr val="B6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3468" y="50292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B66B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571500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 spc="200">
                <a:solidFill>
                  <a:srgbClr val="F0EAD8"/>
                </a:solidFill>
                <a:latin typeface="Aptos Display"/>
              </a:rPr>
              <a:t>PAY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60350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6F7B89"/>
                </a:solidFill>
                <a:latin typeface="Aptos"/>
              </a:rPr>
              <a:t>stablecoin settlement</a:t>
            </a:r>
          </a:p>
        </p:txBody>
      </p:sp>
      <p:sp>
        <p:nvSpPr>
          <p:cNvPr id="27" name="Oval 26"/>
          <p:cNvSpPr/>
          <p:nvPr/>
        </p:nvSpPr>
        <p:spPr>
          <a:xfrm>
            <a:off x="9944100" y="5029200"/>
            <a:ext cx="548640" cy="548640"/>
          </a:xfrm>
          <a:prstGeom prst="ellipse">
            <a:avLst/>
          </a:prstGeom>
          <a:solidFill>
            <a:srgbClr val="10141D"/>
          </a:solidFill>
          <a:ln w="19050">
            <a:solidFill>
              <a:srgbClr val="18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4100" y="50292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8D7FF"/>
                </a:solidFill>
                <a:latin typeface="Aptos Display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71500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 spc="200">
                <a:solidFill>
                  <a:srgbClr val="F0EAD8"/>
                </a:solidFill>
                <a:latin typeface="Aptos Display"/>
              </a:rPr>
              <a:t>RECEIPT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60350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6F7B89"/>
                </a:solidFill>
                <a:latin typeface="Aptos"/>
              </a:rPr>
              <a:t>stored in user graph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03504" y="713232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3504" y="6355080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03504" y="475488"/>
            <a:ext cx="128016" cy="128016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400">
                <a:solidFill>
                  <a:srgbClr val="F0EAD8"/>
                </a:solidFill>
                <a:latin typeface="Aptos Display"/>
              </a:rPr>
              <a:t>GHOLA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864" y="384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400">
                <a:solidFill>
                  <a:srgbClr val="6F7B89"/>
                </a:solidFill>
                <a:latin typeface="Aptos"/>
              </a:rPr>
              <a:t>12 ·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16591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F7B89"/>
                </a:solidFill>
                <a:latin typeface="Menlo"/>
              </a:rPr>
              <a:t>13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F7B89"/>
                </a:solidFill>
                <a:latin typeface="Aptos"/>
              </a:rPr>
              <a:t>Private execution layer for user-owned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0591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F7B89"/>
                </a:solidFill>
                <a:latin typeface="Menlo"/>
              </a:rPr>
              <a:t>ghola.app  ·  seed pitch  ·  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" y="1207007"/>
            <a:ext cx="32004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1498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THE 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50876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0EAD8"/>
                </a:solidFill>
                <a:latin typeface="Aptos Display"/>
              </a:rPr>
              <a:t>Raise to harden,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F0EAD8"/>
                </a:solidFill>
                <a:latin typeface="Aptos Display"/>
              </a:rPr>
              <a:t>ship, and prove</a:t>
            </a:r>
            <a:r>
              <a:rPr sz="40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C7CDD6"/>
                </a:solidFill>
                <a:latin typeface="Aptos"/>
              </a:rPr>
              <a:t>The next milestone is a production-grade private agent commerce loop.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4297680"/>
            <a:ext cx="3474720" cy="192024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" y="4297680"/>
            <a:ext cx="3474720" cy="54864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4988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F7B89"/>
                </a:solidFill>
                <a:latin typeface="Menlo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754880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 spc="200">
                <a:solidFill>
                  <a:srgbClr val="F0EAD8"/>
                </a:solidFill>
                <a:latin typeface="Aptos Display"/>
              </a:rPr>
              <a:t>HARDEN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166360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8D7FF"/>
                </a:solidFill>
                <a:latin typeface="Aptos"/>
              </a:rPr>
              <a:t>wallet · privacy · local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468112"/>
            <a:ext cx="29260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7CDD6"/>
                </a:solidFill>
                <a:latin typeface="Aptos"/>
              </a:rPr>
              <a:t>Lock down the core: secure enclave wallet, on-device memory, audited permission model.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1104" y="4297680"/>
            <a:ext cx="3474720" cy="192024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61104" y="4297680"/>
            <a:ext cx="3474720" cy="54864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35424" y="44988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F7B89"/>
                </a:solidFill>
                <a:latin typeface="Menlo"/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4754880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 spc="200">
                <a:solidFill>
                  <a:srgbClr val="F0EAD8"/>
                </a:solidFill>
                <a:latin typeface="Aptos Display"/>
              </a:rPr>
              <a:t>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5166360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8D7FF"/>
                </a:solidFill>
                <a:latin typeface="Aptos"/>
              </a:rPr>
              <a:t>native UX + SDK / 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5468112"/>
            <a:ext cx="29260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7CDD6"/>
                </a:solidFill>
                <a:latin typeface="Aptos"/>
              </a:rPr>
              <a:t>Native iOS and Android with first-class developer surface for third-party agents.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18704" y="4297680"/>
            <a:ext cx="3474720" cy="192024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18704" y="4297680"/>
            <a:ext cx="3474720" cy="54864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4" y="44988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6F7B89"/>
                </a:solidFill>
                <a:latin typeface="Menlo"/>
              </a:rPr>
              <a:t>Q1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4" y="4754880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 spc="200">
                <a:solidFill>
                  <a:srgbClr val="F0EAD8"/>
                </a:solidFill>
                <a:latin typeface="Aptos Display"/>
              </a:rPr>
              <a:t>PROVE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4" y="5166360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8D7FF"/>
                </a:solidFill>
                <a:latin typeface="Aptos"/>
              </a:rPr>
              <a:t>book / pay / receipt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3024" y="5468112"/>
            <a:ext cx="29260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7CDD6"/>
                </a:solidFill>
                <a:latin typeface="Aptos"/>
              </a:rPr>
              <a:t>End-to-end private commerce loop, publicly demoed and used by design partners.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03504" y="713232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03504" y="6355080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03504" y="475488"/>
            <a:ext cx="128016" cy="128016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400">
                <a:solidFill>
                  <a:srgbClr val="F0EAD8"/>
                </a:solidFill>
                <a:latin typeface="Aptos Display"/>
              </a:rPr>
              <a:t>GHOLA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864" y="384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400">
                <a:solidFill>
                  <a:srgbClr val="6F7B89"/>
                </a:solidFill>
                <a:latin typeface="Aptos"/>
              </a:rPr>
              <a:t>13 · INVESTOR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16591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F7B89"/>
                </a:solidFill>
                <a:latin typeface="Menlo"/>
              </a:rPr>
              <a:t>14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F7B89"/>
                </a:solidFill>
                <a:latin typeface="Aptos"/>
              </a:rPr>
              <a:t>Private execution layer for user-owned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0591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F7B89"/>
                </a:solidFill>
                <a:latin typeface="Menlo"/>
              </a:rPr>
              <a:t>ghola.app  ·  seed pitch  ·  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" y="1207007"/>
            <a:ext cx="32004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1498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INVESTOR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50876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Agent infrastructure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0EAD8"/>
                </a:solidFill>
                <a:latin typeface="Aptos Display"/>
              </a:rPr>
              <a:t>with an app wedge</a:t>
            </a:r>
            <a:r>
              <a:rPr sz="44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8404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C7CDD6"/>
                </a:solidFill>
                <a:latin typeface="Aptos"/>
              </a:rPr>
              <a:t>Identity, stablecoins, privacy, Solana, and systems that can become protocols — Ghola lives at the intersection.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4709160"/>
            <a:ext cx="5394960" cy="141732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" y="4709160"/>
            <a:ext cx="64008" cy="1417320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89204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 spc="300">
                <a:solidFill>
                  <a:srgbClr val="F0EAD8"/>
                </a:solidFill>
                <a:latin typeface="Aptos Display"/>
              </a:rPr>
              <a:t>ALI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303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 spc="100">
                <a:solidFill>
                  <a:srgbClr val="18D7FF"/>
                </a:solidFill>
                <a:latin typeface="Aptos"/>
              </a:rPr>
              <a:t>decentralized AI + Solana markets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5778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7CDD6"/>
                </a:solidFill>
                <a:latin typeface="Aptos"/>
              </a:rPr>
              <a:t>Bringing user-owned intelligence and on-chain commerce into a single private execution layer.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2784" y="4709160"/>
            <a:ext cx="5394960" cy="141732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2784" y="4709160"/>
            <a:ext cx="64008" cy="1417320"/>
          </a:xfrm>
          <a:prstGeom prst="rect">
            <a:avLst/>
          </a:prstGeom>
          <a:solidFill>
            <a:srgbClr val="B6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489204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 spc="300">
                <a:solidFill>
                  <a:srgbClr val="F0EAD8"/>
                </a:solidFill>
                <a:latin typeface="Aptos Display"/>
              </a:rPr>
              <a:t>EDDY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5303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 spc="100">
                <a:solidFill>
                  <a:srgbClr val="B66BFF"/>
                </a:solidFill>
                <a:latin typeface="Aptos"/>
              </a:rPr>
              <a:t>infrastructure + security + token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55778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7CDD6"/>
                </a:solidFill>
                <a:latin typeface="Aptos"/>
              </a:rPr>
              <a:t>A control plane that earns its protocol-grade properties through real product distribution.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3504" y="713232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3504" y="6355080"/>
            <a:ext cx="10984687" cy="0"/>
          </a:xfrm>
          <a:prstGeom prst="line">
            <a:avLst/>
          </a:prstGeom>
          <a:ln w="9525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03504" y="475488"/>
            <a:ext cx="128016" cy="128016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400">
                <a:solidFill>
                  <a:srgbClr val="F0EAD8"/>
                </a:solidFill>
                <a:latin typeface="Aptos Display"/>
              </a:rPr>
              <a:t>GHOLA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0864" y="384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400">
                <a:solidFill>
                  <a:srgbClr val="6F7B89"/>
                </a:solidFill>
                <a:latin typeface="Aptos"/>
              </a:rPr>
              <a:t>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16591" y="38404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F7B89"/>
                </a:solidFill>
                <a:latin typeface="Menlo"/>
              </a:rPr>
              <a:t>15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F7B89"/>
                </a:solidFill>
                <a:latin typeface="Aptos"/>
              </a:rPr>
              <a:t>Private execution layer for user-owned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0591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6F7B89"/>
                </a:solidFill>
                <a:latin typeface="Menlo"/>
              </a:rPr>
              <a:t>ghola.app  ·  seed pitch  ·  2026</a:t>
            </a:r>
          </a:p>
        </p:txBody>
      </p:sp>
      <p:pic>
        <p:nvPicPr>
          <p:cNvPr id="11" name="Picture 10" descr="slide15_im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074920"/>
            <a:ext cx="777240" cy="77724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603504" y="1298448"/>
            <a:ext cx="32004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4984" y="1188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THE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169164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0EAD8"/>
                </a:solidFill>
                <a:latin typeface="Aptos Display"/>
              </a:rPr>
              <a:t>If agents can know,</a:t>
            </a:r>
          </a:p>
          <a:p>
            <a:pPr algn="l">
              <a:lnSpc>
                <a:spcPct val="105000"/>
              </a:lnSpc>
            </a:pPr>
            <a:r>
              <a:rPr sz="5400" b="1">
                <a:solidFill>
                  <a:srgbClr val="F0EAD8"/>
                </a:solidFill>
                <a:latin typeface="Aptos Display"/>
              </a:rPr>
              <a:t>do, and spend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3749039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>
                <a:solidFill>
                  <a:srgbClr val="18D7FF"/>
                </a:solidFill>
                <a:latin typeface="Aptos Display"/>
              </a:rPr>
              <a:t>users must own the layer</a:t>
            </a:r>
          </a:p>
          <a:p>
            <a:pPr algn="l">
              <a:lnSpc>
                <a:spcPct val="108000"/>
              </a:lnSpc>
            </a:pPr>
            <a:r>
              <a:rPr sz="4200" b="1">
                <a:solidFill>
                  <a:srgbClr val="18D7FF"/>
                </a:solidFill>
                <a:latin typeface="Aptos Display"/>
              </a:rPr>
              <a:t>that governs them</a:t>
            </a:r>
            <a:r>
              <a:rPr sz="42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55778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7CDD6"/>
                </a:solidFill>
                <a:latin typeface="Aptos"/>
              </a:rPr>
              <a:t>Ghola is that private execution layer.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