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03504" y="411480"/>
            <a:ext cx="10984687" cy="0"/>
          </a:xfrm>
          <a:prstGeom prst="line">
            <a:avLst/>
          </a:prstGeom>
          <a:ln w="6350">
            <a:solidFill>
              <a:srgbClr val="2A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03504" y="20116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500">
                <a:solidFill>
                  <a:srgbClr val="6F7B89"/>
                </a:solidFill>
                <a:latin typeface="Menlo"/>
              </a:rPr>
              <a:t>VOL. 01  ·  SEED  · 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16191" y="20116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 spc="500">
                <a:solidFill>
                  <a:srgbClr val="6F7B89"/>
                </a:solidFill>
                <a:latin typeface="Menlo"/>
              </a:rPr>
              <a:t>PRIVATE EXECUTION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568510" y="1380743"/>
            <a:ext cx="2056257" cy="4370832"/>
          </a:xfrm>
          <a:prstGeom prst="rect">
            <a:avLst/>
          </a:prstGeom>
          <a:noFill/>
          <a:ln w="9525">
            <a:solidFill>
              <a:srgbClr val="0E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1_im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526" y="1508760"/>
            <a:ext cx="1800225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96526" y="5788152"/>
            <a:ext cx="1800225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 spc="300">
                <a:solidFill>
                  <a:srgbClr val="6F7B89"/>
                </a:solidFill>
                <a:latin typeface="Menlo"/>
              </a:rPr>
              <a:t>FIG.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6526" y="5989320"/>
            <a:ext cx="180022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EBE6D7"/>
                </a:solidFill>
                <a:latin typeface="Aptos"/>
              </a:rPr>
              <a:t>Ghola on iOS</a:t>
            </a:r>
          </a:p>
        </p:txBody>
      </p:sp>
      <p:sp>
        <p:nvSpPr>
          <p:cNvPr id="9" name="Oval 8"/>
          <p:cNvSpPr/>
          <p:nvPr/>
        </p:nvSpPr>
        <p:spPr>
          <a:xfrm>
            <a:off x="603504" y="868680"/>
            <a:ext cx="146304" cy="146304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777240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 spc="-200">
                <a:solidFill>
                  <a:srgbClr val="EBE6D7"/>
                </a:solidFill>
                <a:latin typeface="Aptos Display"/>
              </a:rPr>
              <a:t>ghola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371600"/>
            <a:ext cx="872726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 spc="400">
                <a:solidFill>
                  <a:srgbClr val="6F7B89"/>
                </a:solidFill>
                <a:latin typeface="Menlo"/>
              </a:rPr>
              <a:t>AN EXECUTION LAYER · FOR USER-OWNED AGENTS · STABLECOIN-SETTLED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20240"/>
            <a:ext cx="872726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 i="0">
                <a:solidFill>
                  <a:srgbClr val="EBE6D7"/>
                </a:solidFill>
                <a:latin typeface="Aptos Display"/>
              </a:rPr>
              <a:t>Agents that act</a:t>
            </a:r>
          </a:p>
          <a:p>
            <a:pPr algn="l">
              <a:lnSpc>
                <a:spcPct val="100000"/>
              </a:lnSpc>
            </a:pPr>
            <a:r>
              <a:rPr sz="6800" b="1" i="0">
                <a:solidFill>
                  <a:srgbClr val="EBE6D7"/>
                </a:solidFill>
                <a:latin typeface="Aptos Display"/>
              </a:rPr>
              <a:t>Owned by you</a:t>
            </a:r>
            <a:r>
              <a:rPr sz="68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4663440"/>
            <a:ext cx="872726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C7CDD6"/>
                </a:solidFill>
                <a:latin typeface="Aptos"/>
              </a:rPr>
              <a:t>A user-owned control plane that binds local intelligence, encrypted memory, scoped authority, and on-chain settlement — so agents can finally do, not just talk.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" y="6199632"/>
            <a:ext cx="365760" cy="0"/>
          </a:xfrm>
          <a:prstGeom prst="line">
            <a:avLst/>
          </a:prstGeom>
          <a:ln w="12700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3504" y="6263640"/>
            <a:ext cx="1998935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300">
                <a:solidFill>
                  <a:srgbClr val="6F7B89"/>
                </a:solidFill>
                <a:latin typeface="Menl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6446520"/>
            <a:ext cx="199893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300">
                <a:solidFill>
                  <a:srgbClr val="EBE6D7"/>
                </a:solidFill>
                <a:latin typeface="Aptos Display"/>
              </a:rPr>
              <a:t>LOCAL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85319" y="6199632"/>
            <a:ext cx="365760" cy="0"/>
          </a:xfrm>
          <a:prstGeom prst="line">
            <a:avLst/>
          </a:prstGeom>
          <a:ln w="12700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85319" y="6263640"/>
            <a:ext cx="1998935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300">
                <a:solidFill>
                  <a:srgbClr val="6F7B89"/>
                </a:solidFill>
                <a:latin typeface="Menlo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5319" y="6446520"/>
            <a:ext cx="199893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300">
                <a:solidFill>
                  <a:srgbClr val="EBE6D7"/>
                </a:solidFill>
                <a:latin typeface="Aptos Display"/>
              </a:rPr>
              <a:t>PRIVATE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67135" y="6199632"/>
            <a:ext cx="365760" cy="0"/>
          </a:xfrm>
          <a:prstGeom prst="line">
            <a:avLst/>
          </a:prstGeom>
          <a:ln w="12700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67135" y="6263640"/>
            <a:ext cx="1998935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300">
                <a:solidFill>
                  <a:srgbClr val="6F7B89"/>
                </a:solidFill>
                <a:latin typeface="Menl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7135" y="6446520"/>
            <a:ext cx="199893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300">
                <a:solidFill>
                  <a:srgbClr val="EBE6D7"/>
                </a:solidFill>
                <a:latin typeface="Aptos Display"/>
              </a:rPr>
              <a:t>SCOPED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48950" y="6199632"/>
            <a:ext cx="365760" cy="0"/>
          </a:xfrm>
          <a:prstGeom prst="line">
            <a:avLst/>
          </a:prstGeom>
          <a:ln w="12700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48950" y="6263640"/>
            <a:ext cx="1998935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300">
                <a:solidFill>
                  <a:srgbClr val="6F7B89"/>
                </a:solidFill>
                <a:latin typeface="Menl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8950" y="6446520"/>
            <a:ext cx="199893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spc="300">
                <a:solidFill>
                  <a:srgbClr val="EBE6D7"/>
                </a:solidFill>
                <a:latin typeface="Aptos Display"/>
              </a:rPr>
              <a:t>SETTLED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384048"/>
            <a:ext cx="91440" cy="91440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EBE6D7"/>
                </a:solidFill>
                <a:latin typeface="Aptos Display"/>
              </a:rPr>
              <a:t>GHOLA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10896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spc="400">
                <a:solidFill>
                  <a:srgbClr val="6F7B89"/>
                </a:solidFill>
                <a:latin typeface="Aptos"/>
              </a:rPr>
              <a:t>§ 01 · THE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9391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F7B89"/>
                </a:solidFill>
                <a:latin typeface="Menlo"/>
              </a:rPr>
              <a:t>02/15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216152"/>
            <a:ext cx="27432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26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THE MOMENT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5087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1">
                <a:solidFill>
                  <a:srgbClr val="6F7B89"/>
                </a:solidFill>
                <a:latin typeface="Aptos"/>
              </a:rPr>
              <a:t>Until now, AI has only said things.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5146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00">
                <a:solidFill>
                  <a:srgbClr val="6F7B89"/>
                </a:solidFill>
                <a:latin typeface="Menl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24028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0" b="1" i="0" spc="-300">
                <a:solidFill>
                  <a:srgbClr val="18D7FF"/>
                </a:solidFill>
                <a:latin typeface="Aptos Display"/>
              </a:rPr>
              <a:t>KNOW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52160" y="2834640"/>
            <a:ext cx="548640" cy="0"/>
          </a:xfrm>
          <a:prstGeom prst="line">
            <a:avLst/>
          </a:prstGeom>
          <a:ln w="12700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92240" y="24231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1">
                <a:solidFill>
                  <a:srgbClr val="EBE6D7"/>
                </a:solidFill>
                <a:latin typeface="Aptos"/>
              </a:rPr>
              <a:t>they perceive context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" y="3410712"/>
            <a:ext cx="10984687" cy="0"/>
          </a:xfrm>
          <a:prstGeom prst="line">
            <a:avLst/>
          </a:prstGeom>
          <a:ln w="6350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3504" y="37033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00">
                <a:solidFill>
                  <a:srgbClr val="6F7B89"/>
                </a:solidFill>
                <a:latin typeface="Menl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342900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0" b="1" i="0" spc="-300">
                <a:solidFill>
                  <a:srgbClr val="EBE6D7"/>
                </a:solidFill>
                <a:latin typeface="Aptos Display"/>
              </a:rPr>
              <a:t>DO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52160" y="4023360"/>
            <a:ext cx="548640" cy="0"/>
          </a:xfrm>
          <a:prstGeom prst="line">
            <a:avLst/>
          </a:prstGeom>
          <a:ln w="12700">
            <a:solidFill>
              <a:srgbClr val="EBE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92240" y="36118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1">
                <a:solidFill>
                  <a:srgbClr val="EBE6D7"/>
                </a:solidFill>
                <a:latin typeface="Aptos"/>
              </a:rPr>
              <a:t>they take actions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3504" y="4599432"/>
            <a:ext cx="10984687" cy="0"/>
          </a:xfrm>
          <a:prstGeom prst="line">
            <a:avLst/>
          </a:prstGeom>
          <a:ln w="6350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3504" y="48920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00">
                <a:solidFill>
                  <a:srgbClr val="6F7B89"/>
                </a:solidFill>
                <a:latin typeface="Menl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461772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200" b="1" i="0" spc="-300">
                <a:solidFill>
                  <a:srgbClr val="FF4D8F"/>
                </a:solidFill>
                <a:latin typeface="Aptos Display"/>
              </a:rPr>
              <a:t>SPEND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5212080"/>
            <a:ext cx="548640" cy="0"/>
          </a:xfrm>
          <a:prstGeom prst="line">
            <a:avLst/>
          </a:prstGeom>
          <a:ln w="12700">
            <a:solidFill>
              <a:srgbClr val="FF4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92240" y="480060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1">
                <a:solidFill>
                  <a:srgbClr val="EBE6D7"/>
                </a:solidFill>
                <a:latin typeface="Aptos"/>
              </a:rPr>
              <a:t>they move money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5989320"/>
            <a:ext cx="1098468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C7CDD6"/>
                </a:solidFill>
                <a:latin typeface="Aptos"/>
              </a:rPr>
              <a:t>Now we need a layer that can hold all three — and answer to the user, not the provider.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384048"/>
            <a:ext cx="91440" cy="91440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EBE6D7"/>
                </a:solidFill>
                <a:latin typeface="Aptos Display"/>
              </a:rPr>
              <a:t>GHOLA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10896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spc="400">
                <a:solidFill>
                  <a:srgbClr val="6F7B89"/>
                </a:solidFill>
                <a:latin typeface="Aptos"/>
              </a:rPr>
              <a:t>§ 02 ·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9391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F7B89"/>
                </a:solidFill>
                <a:latin typeface="Menlo"/>
              </a:rPr>
              <a:t>03/15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216152"/>
            <a:ext cx="274320" cy="0"/>
          </a:xfrm>
          <a:prstGeom prst="line">
            <a:avLst/>
          </a:prstGeom>
          <a:ln w="15875">
            <a:solidFill>
              <a:srgbClr val="FF4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26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FF4D8F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508760"/>
            <a:ext cx="47548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EBE6D7"/>
                </a:solidFill>
                <a:latin typeface="Aptos Display"/>
              </a:rPr>
              <a:t>There is no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EBE6D7"/>
                </a:solidFill>
                <a:latin typeface="Aptos Display"/>
              </a:rPr>
              <a:t>trusted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EBE6D7"/>
                </a:solidFill>
                <a:latin typeface="Aptos Display"/>
              </a:rPr>
              <a:t>execution layer</a:t>
            </a:r>
            <a:r>
              <a:rPr sz="3600" b="1">
                <a:solidFill>
                  <a:srgbClr val="FF4D8F"/>
                </a:solidFill>
                <a:latin typeface="Aptos Display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466344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C7CDD6"/>
                </a:solidFill>
                <a:latin typeface="Aptos"/>
              </a:rPr>
              <a:t>Identity, memory, permissions, and money live in different silos — each owned by someone else, none stitched together for you.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" y="5852160"/>
            <a:ext cx="365760" cy="0"/>
          </a:xfrm>
          <a:prstGeom prst="line">
            <a:avLst/>
          </a:prstGeom>
          <a:ln w="19050">
            <a:solidFill>
              <a:srgbClr val="FF4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3504" y="594360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EBE6D7"/>
                </a:solidFill>
                <a:latin typeface="Aptos"/>
              </a:rPr>
              <a:t>“You” are reassembled by every app — temporarily, on their terms.</a:t>
            </a:r>
          </a:p>
        </p:txBody>
      </p:sp>
      <p:pic>
        <p:nvPicPr>
          <p:cNvPr id="12" name="Picture 11" descr="fra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151" y="1600200"/>
            <a:ext cx="6035040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384048"/>
            <a:ext cx="91440" cy="91440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EBE6D7"/>
                </a:solidFill>
                <a:latin typeface="Aptos Display"/>
              </a:rPr>
              <a:t>GHOLA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10896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spc="400">
                <a:solidFill>
                  <a:srgbClr val="6F7B89"/>
                </a:solidFill>
                <a:latin typeface="Aptos"/>
              </a:rPr>
              <a:t>§ 03 ·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9391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F7B89"/>
                </a:solidFill>
                <a:latin typeface="Menlo"/>
              </a:rPr>
              <a:t>04/15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216152"/>
            <a:ext cx="27432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26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4630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BE6D7"/>
                </a:solidFill>
                <a:latin typeface="Aptos Display"/>
              </a:rPr>
              <a:t>Ghola binds intelligence to authority</a:t>
            </a:r>
            <a:r>
              <a:rPr sz="34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C7CDD6"/>
                </a:solidFill>
                <a:latin typeface="Aptos"/>
              </a:rPr>
              <a:t>Four components, one user-owned bus.  Each binds to the next — and the user keeps the keys.</a:t>
            </a:r>
          </a:p>
        </p:txBody>
      </p:sp>
      <p:pic>
        <p:nvPicPr>
          <p:cNvPr id="10" name="Picture 9" descr="bi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880360"/>
            <a:ext cx="10984687" cy="41192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6446520"/>
            <a:ext cx="10984687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400">
                <a:solidFill>
                  <a:srgbClr val="6F7B89"/>
                </a:solidFill>
                <a:latin typeface="Menlo"/>
              </a:rPr>
              <a:t>FIG. 02  ·  GHOLA CONTROL PLANE — END TO 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384048"/>
            <a:ext cx="91440" cy="91440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EBE6D7"/>
                </a:solidFill>
                <a:latin typeface="Aptos Display"/>
              </a:rPr>
              <a:t>GHOLA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10896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spc="400">
                <a:solidFill>
                  <a:srgbClr val="6F7B89"/>
                </a:solidFill>
                <a:latin typeface="Aptos"/>
              </a:rPr>
              <a:t>§ 04 · PROOF ·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9391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F7B89"/>
                </a:solidFill>
                <a:latin typeface="Menlo"/>
              </a:rPr>
              <a:t>05/15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7089" y="1143000"/>
            <a:ext cx="2219706" cy="4709160"/>
          </a:xfrm>
          <a:prstGeom prst="rect">
            <a:avLst/>
          </a:prstGeom>
          <a:noFill/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5_im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529" y="1234440"/>
            <a:ext cx="2036826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48529" y="5943600"/>
            <a:ext cx="203682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 spc="300">
                <a:solidFill>
                  <a:srgbClr val="6F7B89"/>
                </a:solidFill>
                <a:latin typeface="Menlo"/>
              </a:rPr>
              <a:t>FIG.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8529" y="6144768"/>
            <a:ext cx="203682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spc="300">
                <a:solidFill>
                  <a:srgbClr val="EBE6D7"/>
                </a:solidFill>
                <a:latin typeface="Aptos Display"/>
              </a:rPr>
              <a:t>ASSISTANT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8529" y="6327648"/>
            <a:ext cx="203682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8D7FF"/>
                </a:solidFill>
                <a:latin typeface="Aptos"/>
              </a:rPr>
              <a:t>iOS · shipped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58507" y="1143000"/>
            <a:ext cx="2219706" cy="4709160"/>
          </a:xfrm>
          <a:prstGeom prst="rect">
            <a:avLst/>
          </a:prstGeom>
          <a:noFill/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lide1_img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947" y="1234440"/>
            <a:ext cx="2036826" cy="4526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49947" y="5943600"/>
            <a:ext cx="203682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 spc="300">
                <a:solidFill>
                  <a:srgbClr val="6F7B89"/>
                </a:solidFill>
                <a:latin typeface="Menlo"/>
              </a:rPr>
              <a:t>FIG.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9947" y="6144768"/>
            <a:ext cx="203682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spc="300">
                <a:solidFill>
                  <a:srgbClr val="EBE6D7"/>
                </a:solidFill>
                <a:latin typeface="Aptos Display"/>
              </a:rPr>
              <a:t>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9947" y="6327648"/>
            <a:ext cx="203682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8D7FF"/>
                </a:solidFill>
                <a:latin typeface="Aptos"/>
              </a:rPr>
              <a:t>iOS · shipped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59925" y="1143000"/>
            <a:ext cx="2219706" cy="4709160"/>
          </a:xfrm>
          <a:prstGeom prst="rect">
            <a:avLst/>
          </a:prstGeom>
          <a:noFill/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lide5_img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365" y="1234440"/>
            <a:ext cx="2036826" cy="4526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51365" y="5943600"/>
            <a:ext cx="203682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 spc="300">
                <a:solidFill>
                  <a:srgbClr val="6F7B89"/>
                </a:solidFill>
                <a:latin typeface="Menlo"/>
              </a:rPr>
              <a:t>FIG. 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1365" y="6144768"/>
            <a:ext cx="203682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spc="300">
                <a:solidFill>
                  <a:srgbClr val="EBE6D7"/>
                </a:solidFill>
                <a:latin typeface="Aptos Display"/>
              </a:rPr>
              <a:t>WALLET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1365" y="6327648"/>
            <a:ext cx="203682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18D7FF"/>
                </a:solidFill>
                <a:latin typeface="Aptos"/>
              </a:rPr>
              <a:t>Solana Seeker · shipped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" y="1216152"/>
            <a:ext cx="27432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926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1463040"/>
            <a:ext cx="417926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BE6D7"/>
                </a:solidFill>
                <a:latin typeface="Aptos Display"/>
              </a:rPr>
              <a:t>A shipping product,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BE6D7"/>
                </a:solidFill>
                <a:latin typeface="Aptos Display"/>
              </a:rPr>
              <a:t>not a slide ware deck</a:t>
            </a:r>
            <a:r>
              <a:rPr sz="32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3749039"/>
            <a:ext cx="417926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C7CDD6"/>
                </a:solidFill>
                <a:latin typeface="Aptos"/>
              </a:rPr>
              <a:t>Native apps already exist across the stack. Assistant, scoped actions, and a Solana wallet are in users' hands today — all under one local-first runtime.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3504" y="5074920"/>
            <a:ext cx="4179265" cy="0"/>
          </a:xfrm>
          <a:prstGeom prst="line">
            <a:avLst/>
          </a:prstGeom>
          <a:ln w="6350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21792" y="5193792"/>
            <a:ext cx="91440" cy="91440"/>
          </a:xfrm>
          <a:prstGeom prst="ellipse">
            <a:avLst/>
          </a:prstGeom>
          <a:solidFill>
            <a:srgbClr val="4EE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507492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EBE6D7"/>
                </a:solidFill>
                <a:latin typeface="Aptos"/>
              </a:rPr>
              <a:t>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6624" y="507492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4EE69A"/>
                </a:solidFill>
                <a:latin typeface="Menlo"/>
              </a:rPr>
              <a:t>shipped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3504" y="5385816"/>
            <a:ext cx="4179265" cy="0"/>
          </a:xfrm>
          <a:prstGeom prst="line">
            <a:avLst/>
          </a:prstGeom>
          <a:ln w="6350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21792" y="5504688"/>
            <a:ext cx="91440" cy="91440"/>
          </a:xfrm>
          <a:prstGeom prst="ellipse">
            <a:avLst/>
          </a:prstGeom>
          <a:solidFill>
            <a:srgbClr val="4EE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538581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EBE6D7"/>
                </a:solidFill>
                <a:latin typeface="Aptos"/>
              </a:rPr>
              <a:t>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06624" y="538581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4EE69A"/>
                </a:solidFill>
                <a:latin typeface="Menlo"/>
              </a:rPr>
              <a:t>shipped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3504" y="5696712"/>
            <a:ext cx="4179265" cy="0"/>
          </a:xfrm>
          <a:prstGeom prst="line">
            <a:avLst/>
          </a:prstGeom>
          <a:ln w="6350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21792" y="5815583"/>
            <a:ext cx="91440" cy="91440"/>
          </a:xfrm>
          <a:prstGeom prst="ellipse">
            <a:avLst/>
          </a:prstGeom>
          <a:solidFill>
            <a:srgbClr val="4EE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" y="569671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EBE6D7"/>
                </a:solidFill>
                <a:latin typeface="Aptos"/>
              </a:rPr>
              <a:t>WALLET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06624" y="5696712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4EE69A"/>
                </a:solidFill>
                <a:latin typeface="Menlo"/>
              </a:rPr>
              <a:t>shipped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3504" y="6007608"/>
            <a:ext cx="4179265" cy="0"/>
          </a:xfrm>
          <a:prstGeom prst="line">
            <a:avLst/>
          </a:prstGeom>
          <a:ln w="6350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21792" y="6126480"/>
            <a:ext cx="91440" cy="91440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" y="6007608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EBE6D7"/>
                </a:solidFill>
                <a:latin typeface="Aptos"/>
              </a:rPr>
              <a:t>GATEWAY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06624" y="6007608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18D7FF"/>
                </a:solidFill>
                <a:latin typeface="Menlo"/>
              </a:rPr>
              <a:t>private β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3504" y="6318504"/>
            <a:ext cx="4179265" cy="0"/>
          </a:xfrm>
          <a:prstGeom prst="line">
            <a:avLst/>
          </a:prstGeom>
          <a:ln w="6350">
            <a:solidFill>
              <a:srgbClr val="1B22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21792" y="6437376"/>
            <a:ext cx="91440" cy="91440"/>
          </a:xfrm>
          <a:prstGeom prst="ellipse">
            <a:avLst/>
          </a:prstGeom>
          <a:solidFill>
            <a:srgbClr val="FF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" y="6318504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EBE6D7"/>
                </a:solidFill>
                <a:latin typeface="Aptos"/>
              </a:rPr>
              <a:t>MARKETPLACE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06624" y="6318504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FF4D8F"/>
                </a:solidFill>
                <a:latin typeface="Menlo"/>
              </a:rPr>
              <a:t>in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384048"/>
            <a:ext cx="91440" cy="91440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EBE6D7"/>
                </a:solidFill>
                <a:latin typeface="Aptos Display"/>
              </a:rPr>
              <a:t>GHOLA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10896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spc="400">
                <a:solidFill>
                  <a:srgbClr val="6F7B89"/>
                </a:solidFill>
                <a:latin typeface="Aptos"/>
              </a:rPr>
              <a:t>§ 05 · CRYPTO-NATIVE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9391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F7B89"/>
                </a:solidFill>
                <a:latin typeface="Menlo"/>
              </a:rPr>
              <a:t>06/15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216152"/>
            <a:ext cx="274320" cy="0"/>
          </a:xfrm>
          <a:prstGeom prst="line">
            <a:avLst/>
          </a:prstGeom>
          <a:ln w="15875">
            <a:solidFill>
              <a:srgbClr val="FF4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26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FF4D8F"/>
                </a:solidFill>
                <a:latin typeface="Aptos"/>
              </a:rPr>
              <a:t>CRYPTO-NATIVE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463040"/>
            <a:ext cx="64008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BE6D7"/>
                </a:solidFill>
                <a:latin typeface="Aptos Display"/>
              </a:rPr>
              <a:t>Cards authenticate</a:t>
            </a:r>
          </a:p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BE6D7"/>
                </a:solidFill>
                <a:latin typeface="Aptos Display"/>
              </a:rPr>
              <a:t>humans</a:t>
            </a:r>
          </a:p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EBE6D7"/>
                </a:solidFill>
                <a:latin typeface="Aptos Display"/>
              </a:rPr>
              <a:t>Wallets authorize agents</a:t>
            </a:r>
            <a:r>
              <a:rPr sz="3000" b="1">
                <a:solidFill>
                  <a:srgbClr val="FF4D8F"/>
                </a:solidFill>
                <a:latin typeface="Aptos Display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4434840"/>
            <a:ext cx="6217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C7CDD6"/>
                </a:solidFill>
                <a:latin typeface="Aptos"/>
              </a:rPr>
              <a:t>Every agent action becomes a receipt — signed by the user, settled in stablecoins on Solana, and stored back into the user's own authority graph.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" y="5577840"/>
            <a:ext cx="274320" cy="0"/>
          </a:xfrm>
          <a:prstGeom prst="line">
            <a:avLst/>
          </a:prstGeom>
          <a:ln w="12700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3504" y="5669279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spc="-100">
                <a:solidFill>
                  <a:srgbClr val="18D7FF"/>
                </a:solidFill>
                <a:latin typeface="Aptos Display"/>
              </a:rPr>
              <a:t>$0.000005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6080759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6F7B89"/>
                </a:solidFill>
                <a:latin typeface="Menlo"/>
              </a:rPr>
              <a:t>fee / tx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03704" y="5577840"/>
            <a:ext cx="274320" cy="0"/>
          </a:xfrm>
          <a:prstGeom prst="line">
            <a:avLst/>
          </a:prstGeom>
          <a:ln w="12700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03704" y="5669279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spc="-100">
                <a:solidFill>
                  <a:srgbClr val="18D7FF"/>
                </a:solidFill>
                <a:latin typeface="Aptos Display"/>
              </a:rPr>
              <a:t>400ms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3704" y="6080759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6F7B89"/>
                </a:solidFill>
                <a:latin typeface="Menlo"/>
              </a:rPr>
              <a:t>finality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03904" y="5577840"/>
            <a:ext cx="274320" cy="0"/>
          </a:xfrm>
          <a:prstGeom prst="line">
            <a:avLst/>
          </a:prstGeom>
          <a:ln w="12700">
            <a:solidFill>
              <a:srgbClr val="FF4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03904" y="5669279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spc="-100">
                <a:solidFill>
                  <a:srgbClr val="FF4D8F"/>
                </a:solidFill>
                <a:latin typeface="Aptos Display"/>
              </a:rPr>
              <a:t>USDC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6080759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6F7B89"/>
                </a:solidFill>
                <a:latin typeface="Menlo"/>
              </a:rPr>
              <a:t>stablecoin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04104" y="5577840"/>
            <a:ext cx="274320" cy="0"/>
          </a:xfrm>
          <a:prstGeom prst="line">
            <a:avLst/>
          </a:prstGeom>
          <a:ln w="12700">
            <a:solidFill>
              <a:srgbClr val="EBE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04104" y="5669279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spc="-100">
                <a:solidFill>
                  <a:srgbClr val="EBE6D7"/>
                </a:solidFill>
                <a:latin typeface="Aptos Display"/>
              </a:rPr>
              <a:t>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6080759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6F7B89"/>
                </a:solidFill>
                <a:latin typeface="Menlo"/>
              </a:rPr>
              <a:t>signs always</a:t>
            </a:r>
          </a:p>
        </p:txBody>
      </p:sp>
      <p:pic>
        <p:nvPicPr>
          <p:cNvPr id="22" name="Picture 21" descr="rece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943" y="1188720"/>
            <a:ext cx="2852928" cy="4754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60943" y="6035040"/>
            <a:ext cx="28529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 i="0" spc="300">
                <a:solidFill>
                  <a:srgbClr val="6F7B89"/>
                </a:solidFill>
                <a:latin typeface="Menlo"/>
              </a:rPr>
              <a:t>FIG. 06  ·  RECEIPT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384048"/>
            <a:ext cx="91440" cy="91440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EBE6D7"/>
                </a:solidFill>
                <a:latin typeface="Aptos Display"/>
              </a:rPr>
              <a:t>GHOLA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10896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spc="400">
                <a:solidFill>
                  <a:srgbClr val="6F7B89"/>
                </a:solidFill>
                <a:latin typeface="Aptos"/>
              </a:rPr>
              <a:t>§ 06 · WEDGE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9391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F7B89"/>
                </a:solidFill>
                <a:latin typeface="Menlo"/>
              </a:rPr>
              <a:t>07/15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216152"/>
            <a:ext cx="27432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26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WEDGE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463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BE6D7"/>
                </a:solidFill>
                <a:latin typeface="Aptos Display"/>
              </a:rPr>
              <a:t>Start with private personal work</a:t>
            </a:r>
            <a:r>
              <a:rPr sz="30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2860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C7CDD6"/>
                </a:solidFill>
                <a:latin typeface="Aptos"/>
              </a:rPr>
              <a:t>Calls, calendars, inboxes, and bookings — the daily surface where users feel agent leverage first.</a:t>
            </a:r>
          </a:p>
        </p:txBody>
      </p:sp>
      <p:pic>
        <p:nvPicPr>
          <p:cNvPr id="10" name="Picture 9" descr="da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834640"/>
            <a:ext cx="10984687" cy="3530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384048"/>
            <a:ext cx="91440" cy="91440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EBE6D7"/>
                </a:solidFill>
                <a:latin typeface="Aptos Display"/>
              </a:rPr>
              <a:t>GHOLA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10896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spc="400">
                <a:solidFill>
                  <a:srgbClr val="6F7B89"/>
                </a:solidFill>
                <a:latin typeface="Aptos"/>
              </a:rPr>
              <a:t>§ 07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9391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F7B89"/>
                </a:solidFill>
                <a:latin typeface="Menlo"/>
              </a:rPr>
              <a:t>08/15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216152"/>
            <a:ext cx="27432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26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463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BE6D7"/>
                </a:solidFill>
                <a:latin typeface="Aptos Display"/>
              </a:rPr>
              <a:t>One control plane.  Many surfaces</a:t>
            </a:r>
            <a:r>
              <a:rPr sz="30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2860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C7CDD6"/>
                </a:solidFill>
                <a:latin typeface="Aptos"/>
              </a:rPr>
              <a:t>iOS, Android, web at the top.  Local AI, state, and execute in the middle.  Stablecoin settlement at the bottom.  All user-owned.</a:t>
            </a:r>
          </a:p>
        </p:txBody>
      </p:sp>
      <p:pic>
        <p:nvPicPr>
          <p:cNvPr id="10" name="Picture 9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743200"/>
            <a:ext cx="10984687" cy="43154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384048"/>
            <a:ext cx="91440" cy="91440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EBE6D7"/>
                </a:solidFill>
                <a:latin typeface="Aptos Display"/>
              </a:rPr>
              <a:t>GHOLA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10896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spc="400">
                <a:solidFill>
                  <a:srgbClr val="6F7B89"/>
                </a:solidFill>
                <a:latin typeface="Aptos"/>
              </a:rPr>
              <a:t>§ 08 ·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9391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F7B89"/>
                </a:solidFill>
                <a:latin typeface="Menlo"/>
              </a:rPr>
              <a:t>09/15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216152"/>
            <a:ext cx="27432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26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463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BE6D7"/>
                </a:solidFill>
                <a:latin typeface="Aptos Display"/>
              </a:rPr>
              <a:t>Revenue compounds with the authority graph</a:t>
            </a:r>
            <a:r>
              <a:rPr sz="32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606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C7CDD6"/>
                </a:solidFill>
                <a:latin typeface="Aptos"/>
              </a:rPr>
              <a:t>Three concentric streams.  Each one strengthens as more agent actions settle on Ghola.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3291840"/>
            <a:ext cx="3566160" cy="269748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" y="3291840"/>
            <a:ext cx="3566160" cy="73152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4747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300">
                <a:solidFill>
                  <a:srgbClr val="6F7B89"/>
                </a:solidFill>
                <a:latin typeface="Menl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74903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spc="300">
                <a:solidFill>
                  <a:srgbClr val="EBE6D7"/>
                </a:solidFill>
                <a:latin typeface="Aptos Display"/>
              </a:rPr>
              <a:t>SUBSCRIPTION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2062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1" i="0" spc="-200">
                <a:solidFill>
                  <a:srgbClr val="18D7FF"/>
                </a:solidFill>
                <a:latin typeface="Aptos Display"/>
              </a:rPr>
              <a:t>$20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9834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00">
                <a:solidFill>
                  <a:srgbClr val="6F7B89"/>
                </a:solidFill>
                <a:latin typeface="Menlo"/>
              </a:rPr>
              <a:t>/ user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530352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7CDD6"/>
                </a:solidFill>
                <a:latin typeface="Aptos"/>
              </a:rPr>
              <a:t>Private assistant + encrypted state — the personal 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4256" y="3291840"/>
            <a:ext cx="3566160" cy="269748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4256" y="3291840"/>
            <a:ext cx="3566160" cy="73152"/>
          </a:xfrm>
          <a:prstGeom prst="rect">
            <a:avLst/>
          </a:prstGeom>
          <a:solidFill>
            <a:srgbClr val="EBE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6" y="34747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300">
                <a:solidFill>
                  <a:srgbClr val="6F7B89"/>
                </a:solidFill>
                <a:latin typeface="Menl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74903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spc="300">
                <a:solidFill>
                  <a:srgbClr val="EBE6D7"/>
                </a:solidFill>
                <a:latin typeface="Aptos Display"/>
              </a:rPr>
              <a:t>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42062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1" i="0" spc="-200">
                <a:solidFill>
                  <a:srgbClr val="EBE6D7"/>
                </a:solidFill>
                <a:latin typeface="Aptos Display"/>
              </a:rPr>
              <a:t>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49834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00">
                <a:solidFill>
                  <a:srgbClr val="6F7B89"/>
                </a:solidFill>
                <a:latin typeface="Menlo"/>
              </a:rPr>
              <a:t>of agent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530352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7CDD6"/>
                </a:solidFill>
                <a:latin typeface="Aptos"/>
              </a:rPr>
              <a:t>Take rate on agent-initiated paid actions.  Volume scales with trust.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5008" y="3291840"/>
            <a:ext cx="3566160" cy="269748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3291840"/>
            <a:ext cx="3566160" cy="73152"/>
          </a:xfrm>
          <a:prstGeom prst="rect">
            <a:avLst/>
          </a:prstGeom>
          <a:solidFill>
            <a:srgbClr val="FF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34747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300">
                <a:solidFill>
                  <a:srgbClr val="6F7B89"/>
                </a:solidFill>
                <a:latin typeface="Menl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374903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 spc="300">
                <a:solidFill>
                  <a:srgbClr val="EBE6D7"/>
                </a:solidFill>
                <a:latin typeface="Aptos Display"/>
              </a:rPr>
              <a:t>MARKETPLACE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2062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1" i="0" spc="-200">
                <a:solidFill>
                  <a:srgbClr val="FF4D8F"/>
                </a:solidFill>
                <a:latin typeface="Aptos Display"/>
              </a:rPr>
              <a:t>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9834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 spc="200">
                <a:solidFill>
                  <a:srgbClr val="6F7B89"/>
                </a:solidFill>
                <a:latin typeface="Menlo"/>
              </a:rPr>
              <a:t>rev 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5303520"/>
            <a:ext cx="3017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7CDD6"/>
                </a:solidFill>
                <a:latin typeface="Aptos"/>
              </a:rPr>
              <a:t>Models, tools, services consumed by user agents through the gateway.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" y="6217920"/>
            <a:ext cx="10984687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300">
                <a:solidFill>
                  <a:srgbClr val="18D7FF"/>
                </a:solidFill>
                <a:latin typeface="Menlo"/>
              </a:rPr>
              <a:t>Each layer compounds the next — more actions → more graph → more spend.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384048"/>
            <a:ext cx="91440" cy="91440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EBE6D7"/>
                </a:solidFill>
                <a:latin typeface="Aptos Display"/>
              </a:rPr>
              <a:t>GHOLA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10896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spc="400">
                <a:solidFill>
                  <a:srgbClr val="6F7B89"/>
                </a:solidFill>
                <a:latin typeface="Aptos"/>
              </a:rPr>
              <a:t>§ 09 · COMPETITIVE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9391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F7B89"/>
                </a:solidFill>
                <a:latin typeface="Menlo"/>
              </a:rPr>
              <a:t>10/15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216152"/>
            <a:ext cx="27432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26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COMPETITIVE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463040"/>
            <a:ext cx="6858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BE6D7"/>
                </a:solidFill>
                <a:latin typeface="Aptos Display"/>
              </a:rPr>
              <a:t>Ghola owns</a:t>
            </a:r>
          </a:p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BE6D7"/>
                </a:solidFill>
                <a:latin typeface="Aptos Display"/>
              </a:rPr>
              <a:t>the hard quadrant</a:t>
            </a:r>
            <a:r>
              <a:rPr sz="40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411480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C7CDD6"/>
                </a:solidFill>
                <a:latin typeface="Aptos"/>
              </a:rPr>
              <a:t>Most players sit on one axis: privacy or settlement.  Ghola is the only system that does both — local on the device, programmable on Solana.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80" y="1325880"/>
            <a:ext cx="4434840" cy="443484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543800" y="3543300"/>
            <a:ext cx="3886200" cy="0"/>
          </a:xfrm>
          <a:prstGeom prst="line">
            <a:avLst/>
          </a:prstGeom>
          <a:ln w="6350">
            <a:solidFill>
              <a:srgbClr val="2A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86900" y="1600200"/>
            <a:ext cx="0" cy="3886200"/>
          </a:xfrm>
          <a:prstGeom prst="line">
            <a:avLst/>
          </a:prstGeom>
          <a:ln w="6350">
            <a:solidFill>
              <a:srgbClr val="2A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52360" y="5349240"/>
            <a:ext cx="40690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300">
                <a:solidFill>
                  <a:srgbClr val="6F7B89"/>
                </a:solidFill>
                <a:latin typeface="Menlo"/>
              </a:rPr>
              <a:t>PROGRAMMABLE SETTLEMENT 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08760"/>
            <a:ext cx="40690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spc="300">
                <a:solidFill>
                  <a:srgbClr val="6F7B89"/>
                </a:solidFill>
                <a:latin typeface="Menlo"/>
              </a:rPr>
              <a:t>↑  LOCAL PRIVACY</a:t>
            </a:r>
          </a:p>
        </p:txBody>
      </p:sp>
      <p:sp>
        <p:nvSpPr>
          <p:cNvPr id="15" name="Oval 14"/>
          <p:cNvSpPr/>
          <p:nvPr/>
        </p:nvSpPr>
        <p:spPr>
          <a:xfrm>
            <a:off x="7985455" y="4525365"/>
            <a:ext cx="164592" cy="164592"/>
          </a:xfrm>
          <a:prstGeom prst="ellipse">
            <a:avLst/>
          </a:prstGeom>
          <a:solidFill>
            <a:srgbClr val="6F7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9775" y="448878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C7CDD6"/>
                </a:solidFill>
                <a:latin typeface="Aptos"/>
              </a:rPr>
              <a:t>ChatGPT · Claude</a:t>
            </a:r>
          </a:p>
        </p:txBody>
      </p:sp>
      <p:sp>
        <p:nvSpPr>
          <p:cNvPr id="17" name="Oval 16"/>
          <p:cNvSpPr/>
          <p:nvPr/>
        </p:nvSpPr>
        <p:spPr>
          <a:xfrm>
            <a:off x="8162848" y="2574036"/>
            <a:ext cx="164592" cy="164592"/>
          </a:xfrm>
          <a:prstGeom prst="ellipse">
            <a:avLst/>
          </a:prstGeom>
          <a:solidFill>
            <a:srgbClr val="6F7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7168" y="25374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C7CDD6"/>
                </a:solidFill>
                <a:latin typeface="Aptos"/>
              </a:rPr>
              <a:t>Apple Intelligence</a:t>
            </a:r>
          </a:p>
        </p:txBody>
      </p:sp>
      <p:sp>
        <p:nvSpPr>
          <p:cNvPr id="19" name="Oval 18"/>
          <p:cNvSpPr/>
          <p:nvPr/>
        </p:nvSpPr>
        <p:spPr>
          <a:xfrm>
            <a:off x="10646359" y="2751429"/>
            <a:ext cx="164592" cy="164592"/>
          </a:xfrm>
          <a:prstGeom prst="ellipse">
            <a:avLst/>
          </a:prstGeom>
          <a:solidFill>
            <a:srgbClr val="6F7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26119" y="2714853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C7CDD6"/>
                </a:solidFill>
                <a:latin typeface="Aptos"/>
              </a:rPr>
              <a:t>Phantom · MetaMask</a:t>
            </a:r>
          </a:p>
        </p:txBody>
      </p:sp>
      <p:sp>
        <p:nvSpPr>
          <p:cNvPr id="21" name="Oval 20"/>
          <p:cNvSpPr/>
          <p:nvPr/>
        </p:nvSpPr>
        <p:spPr>
          <a:xfrm>
            <a:off x="10735056" y="3993184"/>
            <a:ext cx="164592" cy="164592"/>
          </a:xfrm>
          <a:prstGeom prst="ellipse">
            <a:avLst/>
          </a:prstGeom>
          <a:solidFill>
            <a:srgbClr val="6F7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14816" y="39566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C7CDD6"/>
                </a:solidFill>
                <a:latin typeface="Aptos"/>
              </a:rPr>
              <a:t>Stripe · Wise</a:t>
            </a:r>
          </a:p>
        </p:txBody>
      </p:sp>
      <p:sp>
        <p:nvSpPr>
          <p:cNvPr id="23" name="Oval 22"/>
          <p:cNvSpPr/>
          <p:nvPr/>
        </p:nvSpPr>
        <p:spPr>
          <a:xfrm>
            <a:off x="10060228" y="1899208"/>
            <a:ext cx="804672" cy="804672"/>
          </a:xfrm>
          <a:prstGeom prst="ellipse">
            <a:avLst/>
          </a:prstGeom>
          <a:noFill/>
          <a:ln w="5080">
            <a:solidFill>
              <a:srgbClr val="0E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8788" y="1807768"/>
            <a:ext cx="987552" cy="987552"/>
          </a:xfrm>
          <a:prstGeom prst="ellipse">
            <a:avLst/>
          </a:prstGeom>
          <a:noFill/>
          <a:ln w="5080">
            <a:solidFill>
              <a:srgbClr val="0E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77348" y="1716328"/>
            <a:ext cx="1170432" cy="1170432"/>
          </a:xfrm>
          <a:prstGeom prst="ellipse">
            <a:avLst/>
          </a:prstGeom>
          <a:noFill/>
          <a:ln w="5080">
            <a:solidFill>
              <a:srgbClr val="0E7F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307116" y="2146096"/>
            <a:ext cx="310896" cy="310896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6876" y="21826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 i="0">
                <a:solidFill>
                  <a:srgbClr val="18D7FF"/>
                </a:solidFill>
                <a:latin typeface="Aptos"/>
              </a:rPr>
              <a:t>Ghola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384048"/>
            <a:ext cx="91440" cy="91440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EBE6D7"/>
                </a:solidFill>
                <a:latin typeface="Aptos Display"/>
              </a:rPr>
              <a:t>GHOLA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10896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spc="400">
                <a:solidFill>
                  <a:srgbClr val="6F7B89"/>
                </a:solidFill>
                <a:latin typeface="Aptos"/>
              </a:rPr>
              <a:t>§ 10 ·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9391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F7B89"/>
                </a:solidFill>
                <a:latin typeface="Menlo"/>
              </a:rPr>
              <a:t>11/15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216152"/>
            <a:ext cx="27432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26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463040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BE6D7"/>
                </a:solidFill>
                <a:latin typeface="Aptos Display"/>
              </a:rPr>
              <a:t>The moat is the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EBE6D7"/>
                </a:solidFill>
                <a:latin typeface="Aptos Display"/>
              </a:rPr>
              <a:t>authority graph</a:t>
            </a:r>
            <a:r>
              <a:rPr sz="34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416052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C7CDD6"/>
                </a:solidFill>
                <a:latin typeface="Aptos"/>
              </a:rPr>
              <a:t>Every approved action becomes a node.  Every receipt becomes an edge.  The graph belongs to the user — and no incumbent can reconstruct it from the outside.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" y="5760720"/>
            <a:ext cx="274320" cy="0"/>
          </a:xfrm>
          <a:prstGeom prst="line">
            <a:avLst/>
          </a:prstGeom>
          <a:ln w="12700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3504" y="58338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300">
                <a:solidFill>
                  <a:srgbClr val="18D7FF"/>
                </a:solidFill>
                <a:latin typeface="Aptos"/>
              </a:rPr>
              <a:t>OWNED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608990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F7B89"/>
                </a:solidFill>
                <a:latin typeface="Aptos"/>
              </a:rPr>
              <a:t>by the user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95144" y="5760720"/>
            <a:ext cx="274320" cy="0"/>
          </a:xfrm>
          <a:prstGeom prst="line">
            <a:avLst/>
          </a:prstGeom>
          <a:ln w="12700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95144" y="58338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300">
                <a:solidFill>
                  <a:srgbClr val="18D7FF"/>
                </a:solidFill>
                <a:latin typeface="Aptos"/>
              </a:rPr>
              <a:t>PORTABLE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5144" y="608990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F7B89"/>
                </a:solidFill>
                <a:latin typeface="Aptos"/>
              </a:rPr>
              <a:t>across devices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86784" y="5760720"/>
            <a:ext cx="274320" cy="0"/>
          </a:xfrm>
          <a:prstGeom prst="line">
            <a:avLst/>
          </a:prstGeom>
          <a:ln w="12700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986784" y="58338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300">
                <a:solidFill>
                  <a:srgbClr val="18D7FF"/>
                </a:solidFill>
                <a:latin typeface="Aptos"/>
              </a:rPr>
              <a:t>VERIFIABLE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6784" y="608990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F7B89"/>
                </a:solidFill>
                <a:latin typeface="Aptos"/>
              </a:rPr>
              <a:t>on Solana</a:t>
            </a:r>
          </a:p>
        </p:txBody>
      </p:sp>
      <p:pic>
        <p:nvPicPr>
          <p:cNvPr id="19" name="Picture 18" descr="authorit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151" y="1828800"/>
            <a:ext cx="60350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384048"/>
            <a:ext cx="91440" cy="91440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EBE6D7"/>
                </a:solidFill>
                <a:latin typeface="Aptos Display"/>
              </a:rPr>
              <a:t>GHOLA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10896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spc="400">
                <a:solidFill>
                  <a:srgbClr val="6F7B89"/>
                </a:solidFill>
                <a:latin typeface="Aptos"/>
              </a:rPr>
              <a:t>§ 11 · PROOF ·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9391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F7B89"/>
                </a:solidFill>
                <a:latin typeface="Menlo"/>
              </a:rPr>
              <a:t>12/15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216152"/>
            <a:ext cx="27432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26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PROOF ·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463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BE6D7"/>
                </a:solidFill>
                <a:latin typeface="Aptos Display"/>
              </a:rPr>
              <a:t>The demo is a private purchase</a:t>
            </a:r>
            <a:r>
              <a:rPr sz="32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423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C7CDD6"/>
                </a:solidFill>
                <a:latin typeface="Aptos"/>
              </a:rPr>
              <a:t>A local agent books, asks consent, pays in stablecoins, stores the receipt.  End to end, on device.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" y="3931920"/>
            <a:ext cx="10436047" cy="0"/>
          </a:xfrm>
          <a:prstGeom prst="line">
            <a:avLst/>
          </a:prstGeom>
          <a:ln w="6350">
            <a:solidFill>
              <a:srgbClr val="2A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614258" y="3621024"/>
            <a:ext cx="621792" cy="621792"/>
          </a:xfrm>
          <a:prstGeom prst="ellipse">
            <a:avLst/>
          </a:prstGeom>
          <a:solidFill>
            <a:srgbClr val="10141D"/>
          </a:solidFill>
          <a:ln w="22225">
            <a:solidFill>
              <a:srgbClr val="18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52002" y="3858768"/>
            <a:ext cx="146304" cy="146304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3291840"/>
            <a:ext cx="264330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300">
                <a:solidFill>
                  <a:srgbClr val="6F7B89"/>
                </a:solidFill>
                <a:latin typeface="Menl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4343400"/>
            <a:ext cx="264330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 spc="200">
                <a:solidFill>
                  <a:srgbClr val="EBE6D7"/>
                </a:solidFill>
                <a:latin typeface="Aptos Display"/>
              </a:rPr>
              <a:t>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4800600"/>
            <a:ext cx="264330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18D7FF"/>
                </a:solidFill>
                <a:latin typeface="Aptos"/>
              </a:rPr>
              <a:t>agent perceives intent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5166360"/>
            <a:ext cx="2460421" cy="640080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257800"/>
            <a:ext cx="227754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EBE6D7"/>
                </a:solidFill>
                <a:latin typeface="Menlo"/>
              </a:rPr>
              <a:t>“book me a haircut for thursday”</a:t>
            </a:r>
          </a:p>
        </p:txBody>
      </p:sp>
      <p:sp>
        <p:nvSpPr>
          <p:cNvPr id="18" name="Oval 17"/>
          <p:cNvSpPr/>
          <p:nvPr/>
        </p:nvSpPr>
        <p:spPr>
          <a:xfrm>
            <a:off x="4394720" y="3621024"/>
            <a:ext cx="621792" cy="621792"/>
          </a:xfrm>
          <a:prstGeom prst="ellipse">
            <a:avLst/>
          </a:prstGeom>
          <a:solidFill>
            <a:srgbClr val="10141D"/>
          </a:solidFill>
          <a:ln w="22225">
            <a:solidFill>
              <a:srgbClr val="EBE6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32464" y="3858768"/>
            <a:ext cx="146304" cy="146304"/>
          </a:xfrm>
          <a:prstGeom prst="ellipse">
            <a:avLst/>
          </a:prstGeom>
          <a:solidFill>
            <a:srgbClr val="EBE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965" y="3291840"/>
            <a:ext cx="264330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300">
                <a:solidFill>
                  <a:srgbClr val="6F7B89"/>
                </a:solidFill>
                <a:latin typeface="Menlo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965" y="4343400"/>
            <a:ext cx="264330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 spc="200">
                <a:solidFill>
                  <a:srgbClr val="EBE6D7"/>
                </a:solidFill>
                <a:latin typeface="Aptos Display"/>
              </a:rPr>
              <a:t>APPROVE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965" y="4800600"/>
            <a:ext cx="264330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EBE6D7"/>
                </a:solidFill>
                <a:latin typeface="Aptos"/>
              </a:rPr>
              <a:t>user signs scope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5405" y="5166360"/>
            <a:ext cx="2460421" cy="640080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845" y="5257800"/>
            <a:ext cx="227754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EBE6D7"/>
                </a:solidFill>
                <a:latin typeface="Menlo"/>
              </a:rPr>
              <a:t>“okay · 1 booking · ≤ 50 USDC”</a:t>
            </a:r>
          </a:p>
        </p:txBody>
      </p:sp>
      <p:sp>
        <p:nvSpPr>
          <p:cNvPr id="25" name="Oval 24"/>
          <p:cNvSpPr/>
          <p:nvPr/>
        </p:nvSpPr>
        <p:spPr>
          <a:xfrm>
            <a:off x="7175182" y="3621024"/>
            <a:ext cx="621792" cy="621792"/>
          </a:xfrm>
          <a:prstGeom prst="ellipse">
            <a:avLst/>
          </a:prstGeom>
          <a:solidFill>
            <a:srgbClr val="10141D"/>
          </a:solidFill>
          <a:ln w="22225">
            <a:solidFill>
              <a:srgbClr val="FF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12926" y="3858768"/>
            <a:ext cx="146304" cy="146304"/>
          </a:xfrm>
          <a:prstGeom prst="ellipse">
            <a:avLst/>
          </a:prstGeom>
          <a:solidFill>
            <a:srgbClr val="FF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4427" y="3291840"/>
            <a:ext cx="264330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300">
                <a:solidFill>
                  <a:srgbClr val="6F7B89"/>
                </a:solidFill>
                <a:latin typeface="Menlo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4427" y="4343400"/>
            <a:ext cx="264330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 spc="200">
                <a:solidFill>
                  <a:srgbClr val="EBE6D7"/>
                </a:solidFill>
                <a:latin typeface="Aptos Display"/>
              </a:rPr>
              <a:t>PAY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4427" y="4800600"/>
            <a:ext cx="264330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FF4D8F"/>
                </a:solidFill>
                <a:latin typeface="Aptos"/>
              </a:rPr>
              <a:t>stablecoin settlement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5867" y="5166360"/>
            <a:ext cx="2460421" cy="640080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47307" y="5257800"/>
            <a:ext cx="227754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EBE6D7"/>
                </a:solidFill>
                <a:latin typeface="Menlo"/>
              </a:rPr>
              <a:t>42.00 USDC  ·  solana-mainnet</a:t>
            </a:r>
          </a:p>
        </p:txBody>
      </p:sp>
      <p:sp>
        <p:nvSpPr>
          <p:cNvPr id="32" name="Oval 31"/>
          <p:cNvSpPr/>
          <p:nvPr/>
        </p:nvSpPr>
        <p:spPr>
          <a:xfrm>
            <a:off x="9955644" y="3621024"/>
            <a:ext cx="621792" cy="621792"/>
          </a:xfrm>
          <a:prstGeom prst="ellipse">
            <a:avLst/>
          </a:prstGeom>
          <a:solidFill>
            <a:srgbClr val="10141D"/>
          </a:solidFill>
          <a:ln w="22225">
            <a:solidFill>
              <a:srgbClr val="18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93388" y="3858768"/>
            <a:ext cx="146304" cy="146304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44889" y="3291840"/>
            <a:ext cx="264330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300">
                <a:solidFill>
                  <a:srgbClr val="6F7B89"/>
                </a:solidFill>
                <a:latin typeface="Menlo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4889" y="4343400"/>
            <a:ext cx="264330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 spc="200">
                <a:solidFill>
                  <a:srgbClr val="EBE6D7"/>
                </a:solidFill>
                <a:latin typeface="Aptos Display"/>
              </a:rPr>
              <a:t>RECEIPT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44889" y="4800600"/>
            <a:ext cx="264330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18D7FF"/>
                </a:solidFill>
                <a:latin typeface="Aptos"/>
              </a:rPr>
              <a:t>stored to authority graph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36329" y="5166360"/>
            <a:ext cx="2460421" cy="640080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27769" y="5257800"/>
            <a:ext cx="227754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EBE6D7"/>
                </a:solidFill>
                <a:latin typeface="Menlo"/>
              </a:rPr>
              <a:t>node added · signature 5jKp…3xAq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384048"/>
            <a:ext cx="91440" cy="91440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EBE6D7"/>
                </a:solidFill>
                <a:latin typeface="Aptos Display"/>
              </a:rPr>
              <a:t>GHOLA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10896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spc="400">
                <a:solidFill>
                  <a:srgbClr val="6F7B89"/>
                </a:solidFill>
                <a:latin typeface="Aptos"/>
              </a:rPr>
              <a:t>§ 12 ·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9391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F7B89"/>
                </a:solidFill>
                <a:latin typeface="Menlo"/>
              </a:rPr>
              <a:t>13/15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216152"/>
            <a:ext cx="27432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26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4630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EBE6D7"/>
                </a:solidFill>
                <a:latin typeface="Aptos Display"/>
              </a:rPr>
              <a:t>Raise to harden, ship, prove</a:t>
            </a:r>
            <a:r>
              <a:rPr sz="36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6060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C7CDD6"/>
                </a:solidFill>
                <a:latin typeface="Aptos"/>
              </a:rPr>
              <a:t>Production-grade private agent commerce loop within 9 months.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69264" y="3749039"/>
            <a:ext cx="10253167" cy="0"/>
          </a:xfrm>
          <a:prstGeom prst="line">
            <a:avLst/>
          </a:prstGeom>
          <a:ln w="9525">
            <a:solidFill>
              <a:srgbClr val="2A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354262" y="3621023"/>
            <a:ext cx="256032" cy="256032"/>
          </a:xfrm>
          <a:prstGeom prst="ellipse">
            <a:avLst/>
          </a:prstGeom>
          <a:solidFill>
            <a:srgbClr val="10141D"/>
          </a:solidFill>
          <a:ln w="19050">
            <a:solidFill>
              <a:srgbClr val="18D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36558" y="3703320"/>
            <a:ext cx="91440" cy="91440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38" y="3246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300">
                <a:solidFill>
                  <a:srgbClr val="6F7B89"/>
                </a:solidFill>
                <a:latin typeface="Menlo"/>
              </a:rPr>
              <a:t>Q3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38" y="402335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 spc="300">
                <a:solidFill>
                  <a:srgbClr val="EBE6D7"/>
                </a:solidFill>
                <a:latin typeface="Aptos Display"/>
              </a:rPr>
              <a:t>HARDEN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38" y="44348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18D7FF"/>
                </a:solidFill>
                <a:latin typeface="Aptos"/>
              </a:rPr>
              <a:t>wallet · privacy · local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72201" y="475487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C7CDD6"/>
                </a:solidFill>
                <a:latin typeface="Aptos"/>
              </a:rPr>
              <a:t>Secure enclave wallet, on-device memory, audited permissions.</a:t>
            </a:r>
          </a:p>
        </p:txBody>
      </p:sp>
      <p:sp>
        <p:nvSpPr>
          <p:cNvPr id="17" name="Oval 16"/>
          <p:cNvSpPr/>
          <p:nvPr/>
        </p:nvSpPr>
        <p:spPr>
          <a:xfrm>
            <a:off x="4869362" y="3621023"/>
            <a:ext cx="256032" cy="256032"/>
          </a:xfrm>
          <a:prstGeom prst="ellipse">
            <a:avLst/>
          </a:prstGeom>
          <a:solidFill>
            <a:srgbClr val="10141D"/>
          </a:solidFill>
          <a:ln w="19050">
            <a:solidFill>
              <a:srgbClr val="EBE6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51658" y="3703320"/>
            <a:ext cx="91440" cy="91440"/>
          </a:xfrm>
          <a:prstGeom prst="ellipse">
            <a:avLst/>
          </a:prstGeom>
          <a:solidFill>
            <a:srgbClr val="EBE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4338" y="3246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300">
                <a:solidFill>
                  <a:srgbClr val="6F7B89"/>
                </a:solidFill>
                <a:latin typeface="Menlo"/>
              </a:rPr>
              <a:t>Q4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4338" y="402335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 spc="300">
                <a:solidFill>
                  <a:srgbClr val="EBE6D7"/>
                </a:solidFill>
                <a:latin typeface="Aptos Display"/>
              </a:rPr>
              <a:t>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4338" y="44348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EBE6D7"/>
                </a:solidFill>
                <a:latin typeface="Aptos"/>
              </a:rPr>
              <a:t>native UX + SDK / MCP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2898" y="475487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C7CDD6"/>
                </a:solidFill>
                <a:latin typeface="Aptos"/>
              </a:rPr>
              <a:t>Native iOS + Android — first-class developer surface.</a:t>
            </a:r>
          </a:p>
        </p:txBody>
      </p:sp>
      <p:sp>
        <p:nvSpPr>
          <p:cNvPr id="23" name="Oval 22"/>
          <p:cNvSpPr/>
          <p:nvPr/>
        </p:nvSpPr>
        <p:spPr>
          <a:xfrm>
            <a:off x="8384462" y="3621023"/>
            <a:ext cx="256032" cy="256032"/>
          </a:xfrm>
          <a:prstGeom prst="ellipse">
            <a:avLst/>
          </a:prstGeom>
          <a:solidFill>
            <a:srgbClr val="10141D"/>
          </a:solidFill>
          <a:ln w="19050">
            <a:solidFill>
              <a:srgbClr val="FF4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66758" y="3703320"/>
            <a:ext cx="91440" cy="91440"/>
          </a:xfrm>
          <a:prstGeom prst="ellipse">
            <a:avLst/>
          </a:prstGeom>
          <a:solidFill>
            <a:srgbClr val="FF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9438" y="3246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 spc="300">
                <a:solidFill>
                  <a:srgbClr val="6F7B89"/>
                </a:solidFill>
                <a:latin typeface="Menlo"/>
              </a:rPr>
              <a:t>Q1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9438" y="4023359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 spc="300">
                <a:solidFill>
                  <a:srgbClr val="EBE6D7"/>
                </a:solidFill>
                <a:latin typeface="Aptos Display"/>
              </a:rPr>
              <a:t>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9438" y="44348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FF4D8F"/>
                </a:solidFill>
                <a:latin typeface="Aptos"/>
              </a:rPr>
              <a:t>book · pay · receipt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7998" y="475487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C7CDD6"/>
                </a:solidFill>
                <a:latin typeface="Aptos"/>
              </a:rPr>
              <a:t>End-to-end private commerce loop with design partners.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" y="5760720"/>
            <a:ext cx="10984687" cy="777240"/>
          </a:xfrm>
          <a:prstGeom prst="rect">
            <a:avLst/>
          </a:prstGeom>
          <a:solidFill>
            <a:srgbClr val="10141D"/>
          </a:solidFill>
          <a:ln w="9525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" y="5760720"/>
            <a:ext cx="64008" cy="777240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5852159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 spc="300">
                <a:solidFill>
                  <a:srgbClr val="6F7B89"/>
                </a:solidFill>
                <a:latin typeface="Menlo"/>
              </a:rPr>
              <a:t>RAISE  ·  SEED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6080759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 spc="-100">
                <a:solidFill>
                  <a:srgbClr val="18D7FF"/>
                </a:solidFill>
                <a:latin typeface="Aptos Display"/>
              </a:rPr>
              <a:t>$3M  ·  18-month runway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89788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300">
                <a:solidFill>
                  <a:srgbClr val="6F7B89"/>
                </a:solidFill>
                <a:latin typeface="Menlo"/>
              </a:rPr>
              <a:t>USE OF FUNDS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61264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BE6D7"/>
                </a:solidFill>
                <a:latin typeface="Aptos"/>
              </a:rPr>
              <a:t>team (60%) · infra (25%) · GTM (15%)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384048"/>
            <a:ext cx="91440" cy="91440"/>
          </a:xfrm>
          <a:prstGeom prst="ellipse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EBE6D7"/>
                </a:solidFill>
                <a:latin typeface="Aptos Display"/>
              </a:rPr>
              <a:t>GHOLA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10896"/>
            <a:ext cx="66751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1" i="0" spc="400">
                <a:solidFill>
                  <a:srgbClr val="6F7B89"/>
                </a:solidFill>
                <a:latin typeface="Aptos"/>
              </a:rPr>
              <a:t>§ 13 · INVESTOR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9391" y="31089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6F7B89"/>
                </a:solidFill>
                <a:latin typeface="Menlo"/>
              </a:rPr>
              <a:t>14/15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216152"/>
            <a:ext cx="274320" cy="0"/>
          </a:xfrm>
          <a:prstGeom prst="line">
            <a:avLst/>
          </a:prstGeom>
          <a:ln w="15875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69264" y="1097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400">
                <a:solidFill>
                  <a:srgbClr val="18D7FF"/>
                </a:solidFill>
                <a:latin typeface="Aptos"/>
              </a:rPr>
              <a:t>INVESTOR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4630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BE6D7"/>
                </a:solidFill>
                <a:latin typeface="Aptos Display"/>
              </a:rPr>
              <a:t>Agent infrastructure with an app wedge</a:t>
            </a:r>
            <a:r>
              <a:rPr sz="32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6060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C7CDD6"/>
                </a:solidFill>
                <a:latin typeface="Aptos"/>
              </a:rPr>
              <a:t>Where Ghola intersects with the theses we admire.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3337560"/>
            <a:ext cx="3611880" cy="1005840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" y="3337560"/>
            <a:ext cx="54864" cy="1005840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352044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 spc="300">
                <a:solidFill>
                  <a:srgbClr val="EBE6D7"/>
                </a:solidFill>
                <a:latin typeface="Aptos Display"/>
              </a:rPr>
              <a:t>DECENTRALIZED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93192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6F7B89"/>
                </a:solidFill>
                <a:latin typeface="Aptos"/>
              </a:rPr>
              <a:t>user-owned intelligence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9976" y="3337560"/>
            <a:ext cx="3611880" cy="1005840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3337560"/>
            <a:ext cx="54864" cy="1005840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352044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 spc="300">
                <a:solidFill>
                  <a:srgbClr val="EBE6D7"/>
                </a:solidFill>
                <a:latin typeface="Aptos Display"/>
              </a:rPr>
              <a:t>STABLECOINS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393192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6F7B89"/>
                </a:solidFill>
                <a:latin typeface="Aptos"/>
              </a:rPr>
              <a:t>programmable money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3337560"/>
            <a:ext cx="3611880" cy="1005840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3337560"/>
            <a:ext cx="54864" cy="1005840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8" y="352044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 spc="300">
                <a:solidFill>
                  <a:srgbClr val="EBE6D7"/>
                </a:solidFill>
                <a:latin typeface="Aptos Display"/>
              </a:rPr>
              <a:t>PRIVACY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93192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6F7B89"/>
                </a:solidFill>
                <a:latin typeface="Aptos"/>
              </a:rPr>
              <a:t>local-first by default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" y="4507992"/>
            <a:ext cx="3611880" cy="1005840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" y="4507992"/>
            <a:ext cx="54864" cy="1005840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69087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 spc="300">
                <a:solidFill>
                  <a:srgbClr val="EBE6D7"/>
                </a:solidFill>
                <a:latin typeface="Aptos Display"/>
              </a:rPr>
              <a:t>SOLANA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" y="510235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6F7B89"/>
                </a:solidFill>
                <a:latin typeface="Aptos"/>
              </a:rPr>
              <a:t>settlement at consumer speed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4507992"/>
            <a:ext cx="3611880" cy="1005840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9976" y="4507992"/>
            <a:ext cx="54864" cy="1005840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576" y="469087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 spc="300">
                <a:solidFill>
                  <a:srgbClr val="EBE6D7"/>
                </a:solidFill>
                <a:latin typeface="Aptos Display"/>
              </a:rPr>
              <a:t>PROTOCOLS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510235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6F7B89"/>
                </a:solidFill>
                <a:latin typeface="Aptos"/>
              </a:rPr>
              <a:t>systems that earn the title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56448" y="4507992"/>
            <a:ext cx="3611880" cy="1005840"/>
          </a:xfrm>
          <a:prstGeom prst="rect">
            <a:avLst/>
          </a:prstGeom>
          <a:solidFill>
            <a:srgbClr val="10141D"/>
          </a:solidFill>
          <a:ln w="6350">
            <a:solidFill>
              <a:srgbClr val="2A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56448" y="4507992"/>
            <a:ext cx="54864" cy="1005840"/>
          </a:xfrm>
          <a:prstGeom prst="rect">
            <a:avLst/>
          </a:prstGeom>
          <a:solidFill>
            <a:srgbClr val="18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85048" y="4690872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 spc="300">
                <a:solidFill>
                  <a:srgbClr val="EBE6D7"/>
                </a:solidFill>
                <a:latin typeface="Aptos Display"/>
              </a:rPr>
              <a:t>CONSUMER WEDGE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5048" y="510235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1">
                <a:solidFill>
                  <a:srgbClr val="6F7B89"/>
                </a:solidFill>
                <a:latin typeface="Aptos"/>
              </a:rPr>
              <a:t>real users, daily use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3504" y="5989320"/>
            <a:ext cx="365760" cy="0"/>
          </a:xfrm>
          <a:prstGeom prst="line">
            <a:avLst/>
          </a:prstGeom>
          <a:ln w="19050">
            <a:solidFill>
              <a:srgbClr val="FF4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3504" y="6080760"/>
            <a:ext cx="109846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EBE6D7"/>
                </a:solidFill>
                <a:latin typeface="Aptos"/>
              </a:rPr>
              <a:t>“Identity, stablecoins, privacy, Solana — Ghola lives at the intersection.”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03504" y="411480"/>
            <a:ext cx="10984687" cy="0"/>
          </a:xfrm>
          <a:prstGeom prst="line">
            <a:avLst/>
          </a:prstGeom>
          <a:ln w="6350">
            <a:solidFill>
              <a:srgbClr val="2A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03504" y="20116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500">
                <a:solidFill>
                  <a:srgbClr val="6F7B89"/>
                </a:solidFill>
                <a:latin typeface="Menlo"/>
              </a:rPr>
              <a:t>BACK COVER  ·  15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16191" y="20116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 spc="500">
                <a:solidFill>
                  <a:srgbClr val="6F7B89"/>
                </a:solidFill>
                <a:latin typeface="Menlo"/>
              </a:rPr>
              <a:t>GHOLA  ·  PRIVATE EXECUTION LAYER</a:t>
            </a:r>
          </a:p>
        </p:txBody>
      </p:sp>
      <p:pic>
        <p:nvPicPr>
          <p:cNvPr id="5" name="Picture 4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8031" y="868680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" y="1097280"/>
            <a:ext cx="10058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EBE6D7"/>
                </a:solidFill>
                <a:latin typeface="Aptos Display"/>
              </a:rPr>
              <a:t>If agents can know,</a:t>
            </a:r>
          </a:p>
          <a:p>
            <a:pPr algn="l">
              <a:lnSpc>
                <a:spcPct val="102000"/>
              </a:lnSpc>
            </a:pPr>
            <a:r>
              <a:rPr sz="5200" b="1" i="0">
                <a:solidFill>
                  <a:srgbClr val="EBE6D7"/>
                </a:solidFill>
                <a:latin typeface="Aptos Display"/>
              </a:rPr>
              <a:t>do, and spend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361188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8D7FF"/>
                </a:solidFill>
                <a:latin typeface="Aptos Display"/>
              </a:rPr>
              <a:t>users must own the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8D7FF"/>
                </a:solidFill>
                <a:latin typeface="Aptos Display"/>
              </a:rPr>
              <a:t>layer that governs them</a:t>
            </a:r>
            <a:r>
              <a:rPr sz="4400" b="1">
                <a:solidFill>
                  <a:srgbClr val="18D7FF"/>
                </a:solidFill>
                <a:latin typeface="Aptos Display"/>
              </a:rPr>
              <a:t>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4" y="5669280"/>
            <a:ext cx="457200" cy="0"/>
          </a:xfrm>
          <a:prstGeom prst="line">
            <a:avLst/>
          </a:prstGeom>
          <a:ln w="19050">
            <a:solidFill>
              <a:srgbClr val="18D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3504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1">
                <a:solidFill>
                  <a:srgbClr val="C7CDD6"/>
                </a:solidFill>
                <a:latin typeface="Aptos"/>
              </a:rPr>
              <a:t>Ghola is that layer.  We're building it 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6263640"/>
            <a:ext cx="357012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300">
                <a:solidFill>
                  <a:srgbClr val="6F7B89"/>
                </a:solidFill>
                <a:latin typeface="Menlo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464807"/>
            <a:ext cx="357012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BE6D7"/>
                </a:solidFill>
                <a:latin typeface="Aptos"/>
              </a:rPr>
              <a:t>team@ghola.app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0786" y="6263640"/>
            <a:ext cx="357012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300">
                <a:solidFill>
                  <a:srgbClr val="6F7B89"/>
                </a:solidFill>
                <a:latin typeface="Menlo"/>
              </a:rPr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0786" y="6464807"/>
            <a:ext cx="357012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BE6D7"/>
                </a:solidFill>
                <a:latin typeface="Aptos"/>
              </a:rPr>
              <a:t>ghola.app / pitch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8068" y="6263640"/>
            <a:ext cx="357012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spc="300">
                <a:solidFill>
                  <a:srgbClr val="6F7B89"/>
                </a:solidFill>
                <a:latin typeface="Menlo"/>
              </a:rPr>
              <a:t>BUILDING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8068" y="6464807"/>
            <a:ext cx="357012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EBE6D7"/>
                </a:solidFill>
                <a:latin typeface="Aptos"/>
              </a:rPr>
              <a:t>iOS · Android · Solana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