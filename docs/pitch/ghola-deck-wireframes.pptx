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1005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41E3A"/>
                </a:solidFill>
                <a:latin typeface="Menlo"/>
              </a:rPr>
              <a:t>GHOLA DECK ·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4173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404652"/>
                </a:solidFill>
                <a:latin typeface="Helvetica"/>
              </a:rPr>
              <a:t>Hand-off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697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88909C"/>
                </a:solidFill>
                <a:latin typeface="Helvetica"/>
              </a:rPr>
              <a:t>Open this file next to your Figma window.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3474720"/>
            <a:ext cx="2377440" cy="2743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3474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04652"/>
                </a:solidFill>
                <a:latin typeface="Menlo"/>
              </a:rPr>
              <a:t>LIGHT GREY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3474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where a content element goes (text, image, diagram)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3886200"/>
            <a:ext cx="2377440" cy="2743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886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04652"/>
                </a:solidFill>
                <a:latin typeface="Menlo"/>
              </a:rPr>
              <a:t>DASHED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3886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optional element — include only if real content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4297680"/>
            <a:ext cx="2377440" cy="2743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297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04652"/>
                </a:solidFill>
                <a:latin typeface="Menlo"/>
              </a:rPr>
              <a:t>CYAN DOT 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4297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where the single accent element belongs on the slide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4709160"/>
            <a:ext cx="2377440" cy="2743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709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04652"/>
                </a:solidFill>
                <a:latin typeface="Menlo"/>
              </a:rPr>
              <a:t>RED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4709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designer's annotation — directions, decisions, 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5120640"/>
            <a:ext cx="2377440" cy="2743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404652"/>
                </a:solidFill>
                <a:latin typeface="Menlo"/>
              </a:rPr>
              <a:t>FAINT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5120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12-column reference grid, 96px outer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8064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8909C"/>
                </a:solidFill>
                <a:latin typeface="Menlo"/>
              </a:rPr>
              <a:t>COMPANION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04652"/>
                </a:solidFill>
                <a:latin typeface="Menlo"/>
              </a:rPr>
              <a:t>ghola-deck-brief.docx  —  visual system, principles, anti-patterns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04652"/>
                </a:solidFill>
                <a:latin typeface="Menlo"/>
              </a:rPr>
              <a:t>ghola-deck-content.xlsx  —  per-slide copy, design system, asset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01  — 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280160" cy="4114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04652"/>
                </a:solidFill>
                <a:latin typeface="Menlo"/>
              </a:rPr>
              <a:t>WORDMARK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931920"/>
            <a:ext cx="6035040" cy="5760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" y="4754880"/>
            <a:ext cx="5129783" cy="5760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703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H1 — COVER HEADLINE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005840"/>
            <a:ext cx="4455871" cy="461772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005840"/>
            <a:ext cx="4455871" cy="4617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PRODUCT PHOTOGRAPH
full-bleed · soft daylight
bleeds right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NO eyebrow · NO subhead · NO support paragraph · NO 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7772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Cover sets visual ceiling — most cinematic slide in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02  —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371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01 — THE PROBLEM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5852160" cy="480059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" y="2194560"/>
            <a:ext cx="4974336" cy="480059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Agents can talk. They can't 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" y="3396996"/>
            <a:ext cx="5029200" cy="891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" y="3694176"/>
            <a:ext cx="5029200" cy="891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3991356"/>
            <a:ext cx="5029200" cy="891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" y="4288536"/>
            <a:ext cx="3520439" cy="891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154679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BODY — 3-4 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508760"/>
            <a:ext cx="4547311" cy="384048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508760"/>
            <a:ext cx="4547311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ILLUSTRATION
three locks
(identity · memory · money)
single line weight · accent stroke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846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Single illustration — no card outlines · no boxes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03  —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64592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02 — THE 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8549640" cy="704088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Ghola is the execution layer.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2743200"/>
            <a:ext cx="77724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7432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SUBHEAD — one 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520440"/>
            <a:ext cx="10436047" cy="237744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520440"/>
            <a:ext cx="10436047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HERO SCHEMATIC
single horizontal bar = GHOLA
surfaces above (iOS · Android · Web text only)
4 hanging icons below: brain · vault · sig · coin
thin Solana strip beneath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Three labels max on the schematic.  Lots of empty space around it.</a:t>
            </a:r>
          </a:p>
        </p:txBody>
      </p:sp>
      <p:sp>
        <p:nvSpPr>
          <p:cNvPr id="28" name="Oval 27"/>
          <p:cNvSpPr/>
          <p:nvPr/>
        </p:nvSpPr>
        <p:spPr>
          <a:xfrm>
            <a:off x="6040983" y="4654296"/>
            <a:ext cx="109728" cy="109728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04  —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03 — 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6217920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It's shipping.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2697480"/>
            <a:ext cx="54864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697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SUBHEAD — one 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84067" y="3154680"/>
            <a:ext cx="1691640" cy="274320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4067" y="3154680"/>
            <a:ext cx="169164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SCREENSHOT 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0027" y="3154680"/>
            <a:ext cx="1691640" cy="274320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0027" y="3154680"/>
            <a:ext cx="169164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SCREENSHOT 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15987" y="3154680"/>
            <a:ext cx="1691640" cy="274320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5987" y="3154680"/>
            <a:ext cx="169164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SCREENSHOT 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6080760"/>
            <a:ext cx="7315200" cy="16459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608076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STATUS LINE — mono · shipped (cream) · gateway: private β · marketplace: in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63093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Re-capture screenshots — match status bar, time, battery, dark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05  — 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04 — WEDGE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5829300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Start with private personal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2697480"/>
            <a:ext cx="64008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6974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SUBHEAD — one line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" y="3502152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77824" y="3429000"/>
            <a:ext cx="146304" cy="146304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33375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04652"/>
                </a:solidFill>
                <a:latin typeface="Menlo"/>
              </a:rPr>
              <a:t>08:00 — morning brief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" y="3913631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77824" y="3840479"/>
            <a:ext cx="146304" cy="146304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2144" y="374903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04652"/>
                </a:solidFill>
                <a:latin typeface="Menlo"/>
              </a:rPr>
              <a:t>09:30 — draft replies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" y="4325112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77824" y="4251959"/>
            <a:ext cx="146304" cy="146304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4" y="4160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04652"/>
                </a:solidFill>
                <a:latin typeface="Menlo"/>
              </a:rPr>
              <a:t>11:00 — book call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7824" y="4736592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77824" y="4663440"/>
            <a:ext cx="146304" cy="146304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" y="45720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04652"/>
                </a:solidFill>
                <a:latin typeface="Menlo"/>
              </a:rPr>
              <a:t>12:30 — pay invoice  · 240 USDC</a:t>
            </a:r>
          </a:p>
        </p:txBody>
      </p:sp>
      <p:sp>
        <p:nvSpPr>
          <p:cNvPr id="37" name="Oval 36"/>
          <p:cNvSpPr/>
          <p:nvPr/>
        </p:nvSpPr>
        <p:spPr>
          <a:xfrm>
            <a:off x="11076127" y="4681728"/>
            <a:ext cx="109728" cy="109728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77824" y="5148072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7824" y="5074920"/>
            <a:ext cx="146304" cy="146304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" y="4983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04652"/>
                </a:solidFill>
                <a:latin typeface="Menlo"/>
              </a:rPr>
              <a:t>16:30 — book flight  · 412 USDC</a:t>
            </a:r>
          </a:p>
        </p:txBody>
      </p:sp>
      <p:sp>
        <p:nvSpPr>
          <p:cNvPr id="41" name="Oval 40"/>
          <p:cNvSpPr/>
          <p:nvPr/>
        </p:nvSpPr>
        <p:spPr>
          <a:xfrm>
            <a:off x="11076127" y="5093208"/>
            <a:ext cx="109728" cy="109728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7607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Vertical, not horizontal.  Each event = single line.  Accent dot = required user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06  —  MOAT — hero diagram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0436047" cy="484632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0436047" cy="4846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AUTHORITY GRAPH — FULL-PAGE HERO
designed from scratch in Figma
~14 inner nodes · ~30 outer nodes · varying edge weights
central YOU node
This is the deck's billboard-quality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2144" y="1280160"/>
            <a:ext cx="109728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1280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05 — MOAT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144" y="1600200"/>
            <a:ext cx="5029200" cy="384048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2144" y="2148840"/>
            <a:ext cx="4274820" cy="384048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13716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over the diagram, top-left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Spend most of the design time here.  This diagram is also the website hero illustration.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07  — 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06 — 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6995159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Real users are already on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" y="2926080"/>
            <a:ext cx="4852263" cy="685799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017520"/>
            <a:ext cx="48522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04652"/>
                </a:solidFill>
                <a:latin typeface="Menlo"/>
              </a:rPr>
              <a:t>[ WAITLIST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086100"/>
            <a:ext cx="4852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404652"/>
                </a:solidFill>
                <a:latin typeface="Menlo"/>
              </a:rPr>
              <a:t>[BIG NUMBER]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3291840"/>
            <a:ext cx="48522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88909C"/>
                </a:solidFill>
                <a:latin typeface="Menlo"/>
              </a:rPr>
              <a:t>users on waitlist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8727" y="2926080"/>
            <a:ext cx="4852263" cy="685799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7" y="3017520"/>
            <a:ext cx="48522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04652"/>
                </a:solidFill>
                <a:latin typeface="Menlo"/>
              </a:rPr>
              <a:t>[ DOWNLOADS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3086100"/>
            <a:ext cx="4852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404652"/>
                </a:solidFill>
                <a:latin typeface="Menlo"/>
              </a:rPr>
              <a:t>[BIG NUMBER]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3291840"/>
            <a:ext cx="48522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88909C"/>
                </a:solidFill>
                <a:latin typeface="Menlo"/>
              </a:rPr>
              <a:t>iOS / Android · this 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3977640"/>
            <a:ext cx="4852263" cy="685799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4069080"/>
            <a:ext cx="48522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04652"/>
                </a:solidFill>
                <a:latin typeface="Menlo"/>
              </a:rPr>
              <a:t>[ GITHUB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137660"/>
            <a:ext cx="4852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404652"/>
                </a:solidFill>
                <a:latin typeface="Menlo"/>
              </a:rPr>
              <a:t>[BIG NUMBER]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343400"/>
            <a:ext cx="48522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88909C"/>
                </a:solidFill>
                <a:latin typeface="Menlo"/>
              </a:rPr>
              <a:t>SDK stars · contributors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8727" y="3977640"/>
            <a:ext cx="4852263" cy="685799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8727" y="4069080"/>
            <a:ext cx="48522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04652"/>
                </a:solidFill>
                <a:latin typeface="Menlo"/>
              </a:rPr>
              <a:t>[ LOIs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8727" y="4137660"/>
            <a:ext cx="4852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404652"/>
                </a:solidFill>
                <a:latin typeface="Menlo"/>
              </a:rPr>
              <a:t>[BIG NUMBER]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8727" y="4343400"/>
            <a:ext cx="48522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88909C"/>
                </a:solidFill>
                <a:latin typeface="Menlo"/>
              </a:rPr>
              <a:t>design partners · pilots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608076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All four numbers must be real.  AI-fabricated stats are a tell — see brief §4.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08  — 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64592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07 — BUSINESS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5829300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Revenue compounds with the authority graph.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2697480"/>
            <a:ext cx="64008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6974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SUBHEAD — one 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200400"/>
            <a:ext cx="5029200" cy="2743200"/>
          </a:xfrm>
          <a:prstGeom prst="rect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20040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CONCENTRIC LAYERS
subscription (inner)
gateway (middle)
marketplace (outer)
— or three nested horizontal bars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81344" y="3337560"/>
            <a:ext cx="513252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81344" y="3429000"/>
            <a:ext cx="51325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04652"/>
                </a:solidFill>
                <a:latin typeface="Menlo"/>
              </a:rPr>
              <a:t>01  SUBSCRIPTION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3749039"/>
            <a:ext cx="5132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$20 / user / mo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81344" y="4206240"/>
            <a:ext cx="513252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81344" y="4297679"/>
            <a:ext cx="51325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04652"/>
                </a:solidFill>
                <a:latin typeface="Menlo"/>
              </a:rPr>
              <a:t>02 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4617720"/>
            <a:ext cx="5132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2% of agent spend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81344" y="5074920"/>
            <a:ext cx="513252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81344" y="5166359"/>
            <a:ext cx="51325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04652"/>
                </a:solidFill>
                <a:latin typeface="Menlo"/>
              </a:rPr>
              <a:t>03  MARKETPLACE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5486400"/>
            <a:ext cx="5132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15% rev share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81344" y="5943600"/>
            <a:ext cx="513252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09  —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08 —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7383779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From hardened core to private commerce.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35024" y="3931920"/>
            <a:ext cx="9521647" cy="0"/>
          </a:xfrm>
          <a:prstGeom prst="line">
            <a:avLst/>
          </a:prstGeom>
          <a:ln w="12700">
            <a:solidFill>
              <a:srgbClr val="A0A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11700" y="3822191"/>
            <a:ext cx="219456" cy="219456"/>
          </a:xfrm>
          <a:prstGeom prst="ellipse">
            <a:avLst/>
          </a:prstGeom>
          <a:solidFill>
            <a:srgbClr val="E7E9EC"/>
          </a:solidFill>
          <a:ln w="1270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828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828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04652"/>
                </a:solidFill>
                <a:latin typeface="Helvetica"/>
              </a:rPr>
              <a:t>HARDEN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828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wallet · privacy · local AI</a:t>
            </a:r>
          </a:p>
        </p:txBody>
      </p:sp>
      <p:sp>
        <p:nvSpPr>
          <p:cNvPr id="28" name="Oval 27"/>
          <p:cNvSpPr/>
          <p:nvPr/>
        </p:nvSpPr>
        <p:spPr>
          <a:xfrm>
            <a:off x="5464317" y="3822191"/>
            <a:ext cx="219456" cy="219456"/>
          </a:xfrm>
          <a:prstGeom prst="ellipse">
            <a:avLst/>
          </a:prstGeom>
          <a:solidFill>
            <a:srgbClr val="E7E9EC"/>
          </a:solidFill>
          <a:ln w="1270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2445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Q4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2445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04652"/>
                </a:solidFill>
                <a:latin typeface="Helvetica"/>
              </a:rPr>
              <a:t>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2445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native UX + SDK / MCP</a:t>
            </a:r>
          </a:p>
        </p:txBody>
      </p:sp>
      <p:sp>
        <p:nvSpPr>
          <p:cNvPr id="32" name="Oval 31"/>
          <p:cNvSpPr/>
          <p:nvPr/>
        </p:nvSpPr>
        <p:spPr>
          <a:xfrm>
            <a:off x="9116933" y="3822191"/>
            <a:ext cx="219456" cy="219456"/>
          </a:xfrm>
          <a:prstGeom prst="ellipse">
            <a:avLst/>
          </a:prstGeom>
          <a:solidFill>
            <a:srgbClr val="E7E9EC"/>
          </a:solidFill>
          <a:ln w="1270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5061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Q1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5061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04652"/>
                </a:solidFill>
                <a:latin typeface="Helvetica"/>
              </a:rPr>
              <a:t>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5061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Menlo"/>
              </a:rPr>
              <a:t>book · pay · receipt</a:t>
            </a:r>
          </a:p>
        </p:txBody>
      </p:sp>
      <p:sp>
        <p:nvSpPr>
          <p:cNvPr id="36" name="Oval 35"/>
          <p:cNvSpPr/>
          <p:nvPr/>
        </p:nvSpPr>
        <p:spPr>
          <a:xfrm>
            <a:off x="1866564" y="3877056"/>
            <a:ext cx="109728" cy="109728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943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Single line, three nodes.  No Gantt.  No quarterly grid.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10  —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005840"/>
            <a:ext cx="109728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0058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8909C"/>
                </a:solidFill>
                <a:latin typeface="Menlo"/>
              </a:rPr>
              <a:t>09 —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1508760"/>
            <a:ext cx="6995159" cy="6400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2801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H2 — Built by people who've shipped this before.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3200400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77824" y="3364992"/>
            <a:ext cx="594360" cy="594360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364992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Helvetica"/>
              </a:rPr>
              <a:t>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5064" y="33649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[NAME]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064" y="3730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8909C"/>
                </a:solidFill>
                <a:latin typeface="Menlo"/>
              </a:rPr>
              <a:t>[ROLE]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474720"/>
            <a:ext cx="494964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[one-line prior credential]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" y="4160520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77824" y="4325112"/>
            <a:ext cx="594360" cy="594360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325112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Helvetica"/>
              </a:rPr>
              <a:t>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5064" y="43251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[NAME]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5064" y="46908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8909C"/>
                </a:solidFill>
                <a:latin typeface="Menlo"/>
              </a:rPr>
              <a:t>[ROLE]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434840"/>
            <a:ext cx="494964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[one-line prior credential]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7824" y="5120640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7824" y="5285231"/>
            <a:ext cx="594360" cy="594360"/>
          </a:xfrm>
          <a:prstGeom prst="ellipse">
            <a:avLst/>
          </a:prstGeom>
          <a:solidFill>
            <a:srgbClr val="E7E9EC"/>
          </a:solidFill>
          <a:ln w="6350">
            <a:solidFill>
              <a:srgbClr val="A0A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285231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8909C"/>
                </a:solidFill>
                <a:latin typeface="Helvetica"/>
              </a:rPr>
              <a:t>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5064" y="52852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404652"/>
                </a:solidFill>
                <a:latin typeface="Helvetica"/>
              </a:rPr>
              <a:t>[NAME]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55064" y="5650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8909C"/>
                </a:solidFill>
                <a:latin typeface="Menlo"/>
              </a:rPr>
              <a:t>[ROLE]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5394959"/>
            <a:ext cx="494964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04652"/>
                </a:solidFill>
                <a:latin typeface="Helvetica"/>
              </a:rPr>
              <a:t>[one-line prior credential]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7824" y="6080760"/>
            <a:ext cx="10436047" cy="0"/>
          </a:xfrm>
          <a:prstGeom prst="line">
            <a:avLst/>
          </a:prstGeom>
          <a:ln w="6350">
            <a:solidFill>
              <a:srgbClr val="C0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7824" y="62636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Anderson to provide names, roles, credentials, photos.  Photos optional.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41E3A"/>
                </a:solidFill>
                <a:latin typeface="Menlo"/>
              </a:rPr>
              <a:t>WIREFRAME · SLIDE 11  —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271" y="274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8909C"/>
                </a:solidFill>
                <a:latin typeface="Menlo"/>
              </a:rPr>
              <a:t>1920 × 1080  ·  12-col  ·  96px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0354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288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55415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794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476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553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059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3129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5660" y="731520"/>
            <a:ext cx="618210" cy="54864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64922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8909C"/>
                </a:solidFill>
                <a:latin typeface="Menlo"/>
              </a:rPr>
              <a:t>Light grey = content block  ·  Dashed = optional  ·  Cyan dot = accent placement  ·  Red =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271" y="6492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41E3A"/>
                </a:solidFill>
                <a:latin typeface="Menlo"/>
              </a:rPr>
              <a:t>OPENS NEXT TO FIGMA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2834640"/>
            <a:ext cx="8607247" cy="10972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2834640"/>
            <a:ext cx="860724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04652"/>
                </a:solidFill>
                <a:latin typeface="Menlo"/>
              </a:rPr>
              <a:t>[ ONE-SENTENCE CLOSING STATEMENT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0047" y="4251960"/>
            <a:ext cx="1371600" cy="36576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0047" y="4251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04652"/>
                </a:solidFill>
                <a:latin typeface="Menlo"/>
              </a:rPr>
              <a:t>WORDMARK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447" y="4754880"/>
            <a:ext cx="1828800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1447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04652"/>
                </a:solidFill>
                <a:latin typeface="Menlo"/>
              </a:rPr>
              <a:t>team@ghola.app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C41E3A"/>
                </a:solidFill>
                <a:latin typeface="Menlo"/>
              </a:rPr>
              <a:t>Pure restraint.  Nothing else on the slide.  Should feel like the last page of a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